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32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Tiempo aproximado: 35 segundos.
“Buenos días. Somos el grupo 13 y presentamos una máquina virtual simple para la asignatura Arquitectura de Sistemas Operativos. El programa representa un procesador didáctico con memoria y registros. Nuestro propósito es mostrar cómo una instrucción se obtiene desde memoria, se interpreta y produce un resultado. Durante la exposición veremos su arquitectura, ejecutaremos un programa y revisaremos las pruebas y los reportes que permiten comprobar su funcionamiento.”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Tiempo aproximado: 1 minuto.
“En una computadora real las instrucciones se ejecutan demasiado rápido para observarlas una por una. Normalmente vemos el resultado final, pero no los cambios intermedios de los registros. El problema educativo consiste en hacer visibles esas operaciones. Nuestra solución permite cargar un programa pequeño, avanzar por instrucciones completas y revisar el estado después de cada paso. El objetivo no es reemplazar una computadora real ni ejecutar sus programas; es comprender la relación entre memoria, unidad de control y registros.”
“La propuesta pide memoria simulada, PC, IR, ACC, ciclo de instrucción, carga de programas, ejecución por pasos y automática, errores y evidencias. Sobre esa base añadimos explicaciones y reportes de ejecución.”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Tiempo aproximado: 1 minuto y 15 segundos.
“La interfaz gráfica y la consola son dos formas de utilizar el mismo motor. La memoria guarda instrucciones y datos. La unidad de control coordina Fetch, Decode y Execute. Los registros representan el estado de la CPU. Los controladores adaptan el teclado, los archivos y la impresora virtual. Esta separación evita tener dos implementaciones distintas del procesador: un programa debe producir el mismo resultado tanto en consola como en la interfaz.”
Señalar en la tabla las responsabilidades de la unidad de control, memoria y registros. Explicar que el controlador de disco lee un archivo ASM y que la impresora es una salida simulada, no una impresora física.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Tiempo aproximado: 1 minuto y 15 segundos.
“La memoria tiene cien celdas, con direcciones de cero a noventa y nueve. Una celda contiene una instrucción o un número entero. El código se carga de manera contigua desde la dirección cero. Los datos pueden declararse con DATA en direcciones que no se superpongan con el código inicial. Los comentarios, las líneas vacías y las declaraciones DATA no consumen direcciones de instrucciones.”
“En el ejemplo de suma, las cinco instrucciones están en las direcciones cero a cuatro. En las celdas diez y once guardamos diez y veinte. La celda veinte recibirá el resultado treinta. Una dirección es la ubicación de una celda; no es necesariamente el número almacenado en ella.”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Tiempo aproximado: 1 minuto y 25 segundos.
“PC es el contador de programa: indica la dirección de la próxima instrucción. IR conserva la instrucción obtenida desde memoria. ACC es el acumulador, donde se reciben valores y se realizan sumas o restas. Implementamos además las banderas Z y N. Z vale uno si ACC es cero y N vale uno si ACC es negativo. Al iniciar, ACC es cero, por lo tanto Z inicia activa.”
“PC, IR y ACC tienen funciones diferentes. PC es una dirección; IR es una instrucción; ACC es un dato con el que se trabaja. Un salto modifica el PC, una carga modifica ACC y Fetch actualiza IR.”
Transición: “Con esta arquitectura definida, mi compañero mostrará las instrucciones y cómo cambia la máquina al ejecutarlas.”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55 segundos.
“El lenguaje tiene diez instrucciones. LOAD y STORE transfieren datos entre memoria y acumulador. ADD y SUB realizan aritmética. JMP cambia el flujo siempre; JZ y JNZ dependen de la bandera cero. INPUT recibe un entero, OUTPUT lo muestra y HALT termina. ACC es implícito: LOAD diez significa cargar el contenido de la celda diez, no cargar el número diez como valor inmediato.”
“DATA es una directiva del cargador. No es una operación de CPU y no consume ciclos. Los archivos son texto UTF-8 con una operación por línea.”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1 minuto.
“En Fetch se lee Memoria de PC y la instrucción se copia a IR. En Decode se reconoce el opcode y su operando. Después se prepara la continuación secuencial incrementando PC. En Execute se aplica la operación: puede cambiar ACC, memoria, salida o el destino de PC. Finalmente se actualizan las banderas y se registra el paso.”
“Un paso de la aplicación ejecuta una instrucción completa. Las tarjetas describen las tres fases del último paso; no representan tres clics separados. En un salto, Execute puede reemplazar el PC que ya se había incrementado.”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50 segundos.
“Este programa permite comprobar todos los cambios. LOAD diez copia diez al acumulador. ADD once suma veinte y deja treinta. STORE veinte copia treinta a memoria sin cambiar ACC. OUTPUT emite treinta y HALT termina. El resultado es ACC igual a treinta, memoria veinte igual a treinta, salida treinta y PC igual a cinco. HALT también cuenta como una instrucción completada.”
Señalar la tabla y evitar leer cada celda. Destacar el cambio producido por STORE y la permanencia de ACC durante OUTPUT y HALT.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2 minutos.
1. Cambiar a VM Studio. Cargar el ejemplo Suma y mostrar que PC y ACC empiezan en cero.
2. Señalar Mem[10] = 10 y Mem[11] = 20. Explicar que ya están inicializados mediante DATA.
3. Pulsar Paso una vez. Señalar IR = LOAD 10, PC = 1 y ACC = 10.
4. Pulsar Paso otra vez. Señalar ACC = 30 y PC = 2.
5. Pulsar Paso para STORE. Seleccionar o localizar la celda 20 y mostrar el valor 30.
6. Completar OUTPUT y HALT. Mostrar la impresora virtual y el estado de finalización.
7. Reiniciar y ejecutar automáticamente para demostrar que ambos modos llegan al mismo resultado.
8. Volver a las diapositivas, sin dejar un diálogo abierto.
Frase de cierre de la demostración: “No solo observamos treinta como resultado; también conservamos el recorrido que explica cómo llegamos a él.”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55 segundos.
“Los saltos muestran por qué PC no siempre avanza de forma lineal. En el caso condicional calculamos veinte menos veinte. Z se activa y JZ dirige la ejecución a la dirección seis, donde se carga ciento once. La rama que imprimiría novecientos noventa y nueve no se ejecuta. En el caso del bucle usamos JNZ para repetir mientras el contador no sea cero. El programa suma tres más dos más uno y termina con seis.”
“Que exista HALT en el archivo no significa que se vaya a alcanzar. Un salto podría repetir para siempre; por eso hay un límite de ciclos.”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Tiempo aproximado: 50 segundos.
“El controlador de teclado entrega enteros a INPUT. El controlador de disco lee los archivos ASM. El controlador de impresora recibe el valor de ACC al ejecutar OUTPUT. Cada uno tiene su adaptador separado. En el caso de entrada y salida, introducir siete deja ACC y memoria veinte en siete y emite siete. Si se cancela el diálogo, la instrucción queda pendiente y se permite reintentar sin contar un ciclo incompleto.”
Transición: “Mi compañero mostrará ahora cómo controlamos los errores y cómo conservamos las evidencias de estas ejecuciones.”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Tiempo aproximado: 1 minuto y 15 segundos.
“Distinguimos errores de carga y errores de ejecución. Una instrucción desconocida, una dirección fuera del rango o un programa sin HALT se rechazan al cargar. Una carga inválida conserva el programa anterior. Un error de ejecución ocurre cuando un programa válido intenta una operación incompatible, como leer una instrucción como si fuera un dato. En ese caso se conserva el PC fallido, se registra la causa y se exige reiniciar o cargar otro programa.”
“Por ejemplo, MULT diez es una instrucción inexistente. En cambio, LOAD cero seguido de HALT tiene sintaxis válida, pero falla al ejecutar porque la celda cero contiene el propio código. La aplicación informa ERROR, no una finalización correcta.”
Si hay tiempo, mostrar el error controlado en la GUI durante 20 segundos. No escribir programas nuevos largos frente al público.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Tiempo aproximado: 1 minuto y 15 segundos.
“Los reportes conservan los resultados de la ejecución actual. El formato HTML se puede abrir sin Internet y preparar para impresión. CSV permite revisar los pasos en Excel. JSON conserva la evidencia estructurada, incluyendo programa, datos iniciales, entradas, registros, memoria, salida y fases. La evidencia también puede registrar una ejecución pausada o con error; no debe presentarse como aprobada simplemente porque fue exportada.”
“Para reproducir una prueba es importante conocer tanto el programa como sus condiciones iniciales. Un número final sin esas condiciones no explica el comportamiento de la máquina.”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Tiempo aproximado: 1 minuto y 20 segundos.
“Diseñamos seis programas funcionales: suma, resta, almacenamiento, condicional, bucle y entrada y salida. Los valores esperados son treinta, veinte, treinta, ciento once, seis y siete respectivamente. Además comprobamos errores de carga y regresiones del motor. Las pruebas de interfaz verifican acciones como cargar, ejecutar, pausar, reiniciar y exportar.”
“El resultado que mostramos corresponde a una ejecución real del verificador. Las pruebas aumentan la confianza y permiten detectar cambios que rompan un comportamiento anterior. No demuestran que sea imposible encontrar un fallo en cualquier condición; por eso también ensayamos el recorrido que se utilizará durante la defensa.”
El conteo de regresiones debe leerse del informe generado `docs/EVIDENCIAS_PRUEBAS.md` para evitar memorizar una cifra que cambie después de una actualización.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Tiempo aproximado: 1 minuto.
“La organización separa responsabilidades. motor.py contiene memoria, instrucciones, registros y ejecución. interfaz.py presenta los controles gráficos. consola.py permite el uso por terminal y la ejecución por archivo. reportes.py transforma el estado en evidencia y escribe los formatos de salida. Los ejemplos y las pruebas están en carpetas distintas del código de la aplicación. La documentación y las diapositivas acompañan la entrega.”
“Esta separación permite cambiar la presentación o añadir un reporte sin duplicar la lógica de las instrucciones. Las interfaces consultan el mismo estado del motor.”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Tiempo aproximado: 1 minuto y 10 segundos.
“El resultado es una herramienta didáctica que hace visible el ciclo de ejecución y permite contrastar los cambios con programas pequeños. La suma demuestra la relación entre instrucciones, registros y memoria; los saltos demuestran el control del flujo; las evidencias conservan el resultado de cada prueba. El modelo tiene límites deliberados: cien celdas, diez instrucciones y una ejecución secuencial. No representa un sistema operativo completo ni simula concurrencia, interrupciones o una CPU física.”
“Como ampliaciones futuras podrían incorporarse etiquetas simbólicas o nuevas instrucciones, acompañadas de documentación y pruebas. Con esto concluimos la demostración y quedamos atentos a sus preguntas.”
Fuentes: propuesta del grupo 13, páginas 2 a 9; docs/DOCUMENTO_TECNICO_GRUPO13.md; src/vm_studio/motor.py; docs/evidencias/resumen.json (2026-10-27T05:59:16-06:00). Capturas: implementación real de VM Studio. Ilustración conceptual de portada: generada con IA; no representa hardware del proyecto.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73B"/>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Máquina virtual simple</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B9CDD8"/>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B9CDD8"/>
                </a:solidFill>
                <a:latin typeface="Aptos" pitchFamily="34" charset="0"/>
                <a:ea typeface="Aptos" pitchFamily="34" charset="-122"/>
                <a:cs typeface="Aptos" pitchFamily="34" charset="-120"/>
              </a:rPr>
              <a:t>01</a:t>
            </a:r>
            <a:endParaRPr lang="en-US" sz="1000" dirty="0"/>
          </a:p>
        </p:txBody>
      </p:sp>
      <p:pic>
        <p:nvPicPr>
          <p:cNvPr id="5" name="Image 0" descr="Ilustración conceptual de un procesador"/>
          <p:cNvPicPr>
            <a:picLocks noChangeAspect="1"/>
          </p:cNvPicPr>
          <p:nvPr/>
        </p:nvPicPr>
        <p:blipFill>
          <a:blip r:embed="rId3"/>
          <a:stretch>
            <a:fillRect/>
          </a:stretch>
        </p:blipFill>
        <p:spPr>
          <a:xfrm>
            <a:off x="6583680" y="2191243"/>
            <a:ext cx="4983480" cy="2804698"/>
          </a:xfrm>
          <a:prstGeom prst="rect">
            <a:avLst/>
          </a:prstGeom>
        </p:spPr>
      </p:pic>
      <p:sp>
        <p:nvSpPr>
          <p:cNvPr id="6" name="Text 3"/>
          <p:cNvSpPr/>
          <p:nvPr/>
        </p:nvSpPr>
        <p:spPr>
          <a:xfrm>
            <a:off x="658368" y="1536192"/>
            <a:ext cx="5577840" cy="822960"/>
          </a:xfrm>
          <a:prstGeom prst="rect">
            <a:avLst/>
          </a:prstGeom>
          <a:noFill/>
          <a:ln/>
        </p:spPr>
        <p:txBody>
          <a:bodyPr wrap="square" lIns="0" tIns="0" rIns="0" bIns="0" rtlCol="0" anchor="ctr"/>
          <a:lstStyle/>
          <a:p>
            <a:pPr marL="0" indent="0">
              <a:buNone/>
            </a:pPr>
            <a:r>
              <a:rPr lang="en-US" sz="4600" b="1" dirty="0">
                <a:solidFill>
                  <a:srgbClr val="FFFFFF"/>
                </a:solidFill>
                <a:latin typeface="Aptos" pitchFamily="34" charset="0"/>
                <a:ea typeface="Aptos" pitchFamily="34" charset="-122"/>
                <a:cs typeface="Aptos" pitchFamily="34" charset="-120"/>
              </a:rPr>
              <a:t>VM STUDIO</a:t>
            </a:r>
            <a:endParaRPr lang="en-US" sz="4600" dirty="0"/>
          </a:p>
        </p:txBody>
      </p:sp>
      <p:sp>
        <p:nvSpPr>
          <p:cNvPr id="7" name="Text 4"/>
          <p:cNvSpPr/>
          <p:nvPr/>
        </p:nvSpPr>
        <p:spPr>
          <a:xfrm>
            <a:off x="685800" y="2670048"/>
            <a:ext cx="5577840" cy="1115568"/>
          </a:xfrm>
          <a:prstGeom prst="rect">
            <a:avLst/>
          </a:prstGeom>
          <a:noFill/>
          <a:ln/>
        </p:spPr>
        <p:txBody>
          <a:bodyPr wrap="square" lIns="0" tIns="0" rIns="0" bIns="0" rtlCol="0" anchor="ctr"/>
          <a:lstStyle/>
          <a:p>
            <a:pPr marL="0" indent="0">
              <a:buNone/>
            </a:pPr>
            <a:r>
              <a:rPr lang="en-US" sz="2900" dirty="0">
                <a:solidFill>
                  <a:srgbClr val="D4E7EF"/>
                </a:solidFill>
                <a:latin typeface="Aptos" pitchFamily="34" charset="0"/>
                <a:ea typeface="Aptos" pitchFamily="34" charset="-122"/>
                <a:cs typeface="Aptos" pitchFamily="34" charset="-120"/>
              </a:rPr>
              <a:t>Memoria, registros y</a:t>
            </a:r>
            <a:endParaRPr lang="en-US" sz="2900" dirty="0"/>
          </a:p>
          <a:p>
            <a:pPr marL="0" indent="0">
              <a:buNone/>
            </a:pPr>
            <a:r>
              <a:rPr lang="en-US" sz="2900" dirty="0">
                <a:solidFill>
                  <a:srgbClr val="D4E7EF"/>
                </a:solidFill>
                <a:latin typeface="Aptos" pitchFamily="34" charset="0"/>
                <a:ea typeface="Aptos" pitchFamily="34" charset="-122"/>
                <a:cs typeface="Aptos" pitchFamily="34" charset="-120"/>
              </a:rPr>
              <a:t>ciclo de instrucciones</a:t>
            </a:r>
            <a:endParaRPr lang="en-US" sz="2900" dirty="0"/>
          </a:p>
        </p:txBody>
      </p:sp>
      <p:sp>
        <p:nvSpPr>
          <p:cNvPr id="8" name="Text 5"/>
          <p:cNvSpPr/>
          <p:nvPr/>
        </p:nvSpPr>
        <p:spPr>
          <a:xfrm>
            <a:off x="685800" y="4270248"/>
            <a:ext cx="5486400" cy="502920"/>
          </a:xfrm>
          <a:prstGeom prst="rect">
            <a:avLst/>
          </a:prstGeom>
          <a:noFill/>
          <a:ln/>
        </p:spPr>
        <p:txBody>
          <a:bodyPr wrap="square" lIns="0" tIns="0" rIns="0" bIns="0" rtlCol="0" anchor="ctr"/>
          <a:lstStyle/>
          <a:p>
            <a:pPr marL="0" indent="0">
              <a:buNone/>
            </a:pPr>
            <a:r>
              <a:rPr lang="en-US" sz="2100" dirty="0">
                <a:solidFill>
                  <a:srgbClr val="8EDCCF"/>
                </a:solidFill>
                <a:latin typeface="Aptos" pitchFamily="34" charset="0"/>
                <a:ea typeface="Aptos" pitchFamily="34" charset="-122"/>
                <a:cs typeface="Aptos" pitchFamily="34" charset="-120"/>
              </a:rPr>
              <a:t>Implementación didáctica en Python</a:t>
            </a:r>
            <a:endParaRPr lang="en-US" sz="2100" dirty="0"/>
          </a:p>
        </p:txBody>
      </p:sp>
      <p:sp>
        <p:nvSpPr>
          <p:cNvPr id="9" name="Text 6"/>
          <p:cNvSpPr/>
          <p:nvPr/>
        </p:nvSpPr>
        <p:spPr>
          <a:xfrm>
            <a:off x="685800" y="5166360"/>
            <a:ext cx="5486400" cy="548640"/>
          </a:xfrm>
          <a:prstGeom prst="rect">
            <a:avLst/>
          </a:prstGeom>
          <a:noFill/>
          <a:ln/>
        </p:spPr>
        <p:txBody>
          <a:bodyPr wrap="square" lIns="0" tIns="0" rIns="0" bIns="0" rtlCol="0" anchor="ctr"/>
          <a:lstStyle/>
          <a:p>
            <a:pPr marL="0" indent="0">
              <a:buNone/>
            </a:pPr>
            <a:r>
              <a:rPr lang="en-US" sz="1700" dirty="0">
                <a:solidFill>
                  <a:srgbClr val="E0EAF1"/>
                </a:solidFill>
                <a:latin typeface="Aptos" pitchFamily="34" charset="0"/>
                <a:ea typeface="Aptos" pitchFamily="34" charset="-122"/>
                <a:cs typeface="Aptos" pitchFamily="34" charset="-120"/>
              </a:rPr>
              <a:t>Integrante 1 · Integrante 2 · Integrante 3</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Problema y objetivo</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02</a:t>
            </a:r>
            <a:endParaRPr lang="en-US" sz="1000" dirty="0"/>
          </a:p>
        </p:txBody>
      </p:sp>
      <p:sp>
        <p:nvSpPr>
          <p:cNvPr id="5" name="Text 3"/>
          <p:cNvSpPr/>
          <p:nvPr/>
        </p:nvSpPr>
        <p:spPr>
          <a:xfrm>
            <a:off x="685800" y="1490472"/>
            <a:ext cx="10698480" cy="1371600"/>
          </a:xfrm>
          <a:prstGeom prst="rect">
            <a:avLst/>
          </a:prstGeom>
          <a:noFill/>
          <a:ln/>
        </p:spPr>
        <p:txBody>
          <a:bodyPr wrap="square" lIns="0" tIns="0" rIns="0" bIns="0" rtlCol="0" anchor="ctr"/>
          <a:lstStyle/>
          <a:p>
            <a:pPr marL="0" indent="0">
              <a:buNone/>
            </a:pPr>
            <a:r>
              <a:rPr lang="en-US" sz="3000" b="1" dirty="0">
                <a:solidFill>
                  <a:srgbClr val="172D40"/>
                </a:solidFill>
                <a:latin typeface="Aptos" pitchFamily="34" charset="0"/>
                <a:ea typeface="Aptos" pitchFamily="34" charset="-122"/>
                <a:cs typeface="Aptos" pitchFamily="34" charset="-120"/>
              </a:rPr>
              <a:t>Las instrucciones cambian el estado de la CPU,</a:t>
            </a:r>
            <a:endParaRPr lang="en-US" sz="3000" dirty="0"/>
          </a:p>
          <a:p>
            <a:pPr marL="0" indent="0">
              <a:buNone/>
            </a:pPr>
            <a:r>
              <a:rPr lang="en-US" sz="3000" b="1" dirty="0">
                <a:solidFill>
                  <a:srgbClr val="172D40"/>
                </a:solidFill>
                <a:latin typeface="Aptos" pitchFamily="34" charset="0"/>
                <a:ea typeface="Aptos" pitchFamily="34" charset="-122"/>
                <a:cs typeface="Aptos" pitchFamily="34" charset="-120"/>
              </a:rPr>
              <a:t>pero esos cambios normalmente no son visibles.</a:t>
            </a:r>
            <a:endParaRPr lang="en-US" sz="3000" dirty="0"/>
          </a:p>
        </p:txBody>
      </p:sp>
      <p:sp>
        <p:nvSpPr>
          <p:cNvPr id="6" name="Text 4"/>
          <p:cNvSpPr/>
          <p:nvPr/>
        </p:nvSpPr>
        <p:spPr>
          <a:xfrm>
            <a:off x="685800" y="3401568"/>
            <a:ext cx="10698480" cy="411480"/>
          </a:xfrm>
          <a:prstGeom prst="rect">
            <a:avLst/>
          </a:prstGeom>
          <a:noFill/>
          <a:ln/>
        </p:spPr>
        <p:txBody>
          <a:bodyPr wrap="square" lIns="0" tIns="0" rIns="0" bIns="0" rtlCol="0" anchor="ctr"/>
          <a:lstStyle/>
          <a:p>
            <a:pPr marL="0" indent="0">
              <a:buNone/>
            </a:pPr>
            <a:r>
              <a:rPr lang="en-US" sz="2300" b="1" dirty="0">
                <a:solidFill>
                  <a:srgbClr val="166B70"/>
                </a:solidFill>
                <a:latin typeface="Aptos" pitchFamily="34" charset="0"/>
                <a:ea typeface="Aptos" pitchFamily="34" charset="-122"/>
                <a:cs typeface="Aptos" pitchFamily="34" charset="-120"/>
              </a:rPr>
              <a:t>Objetivo del proyecto</a:t>
            </a:r>
            <a:endParaRPr lang="en-US" sz="2300" dirty="0"/>
          </a:p>
        </p:txBody>
      </p:sp>
      <p:sp>
        <p:nvSpPr>
          <p:cNvPr id="7" name="Text 5"/>
          <p:cNvSpPr/>
          <p:nvPr/>
        </p:nvSpPr>
        <p:spPr>
          <a:xfrm>
            <a:off x="685800" y="4023360"/>
            <a:ext cx="10698480" cy="1234440"/>
          </a:xfrm>
          <a:prstGeom prst="rect">
            <a:avLst/>
          </a:prstGeom>
          <a:noFill/>
          <a:ln/>
        </p:spPr>
        <p:txBody>
          <a:bodyPr wrap="square" lIns="0" tIns="0" rIns="0" bIns="0" rtlCol="0" anchor="ctr"/>
          <a:lstStyle/>
          <a:p>
            <a:pPr marL="0" indent="0">
              <a:buNone/>
            </a:pPr>
            <a:r>
              <a:rPr lang="en-US" sz="2700" dirty="0">
                <a:solidFill>
                  <a:srgbClr val="172D40"/>
                </a:solidFill>
                <a:latin typeface="Aptos" pitchFamily="34" charset="0"/>
                <a:ea typeface="Aptos" pitchFamily="34" charset="-122"/>
                <a:cs typeface="Aptos" pitchFamily="34" charset="-120"/>
              </a:rPr>
              <a:t>Interpretar programas pequeños y observar, después de cada instrucción,</a:t>
            </a:r>
            <a:endParaRPr lang="en-US" sz="2700" dirty="0"/>
          </a:p>
          <a:p>
            <a:pPr marL="0" indent="0">
              <a:buNone/>
            </a:pPr>
            <a:r>
              <a:rPr lang="en-US" sz="2700" dirty="0">
                <a:solidFill>
                  <a:srgbClr val="172D40"/>
                </a:solidFill>
                <a:latin typeface="Aptos" pitchFamily="34" charset="0"/>
                <a:ea typeface="Aptos" pitchFamily="34" charset="-122"/>
                <a:cs typeface="Aptos" pitchFamily="34" charset="-120"/>
              </a:rPr>
              <a:t>cómo cambian PC, IR, ACC y memoria.</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Arquitectura del simulador</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3246120">
                  <a:extLst>
                    <a:ext uri="{9D8B030D-6E8A-4147-A177-3AD203B41FA5}">
                      <a16:colId xmlns:a16="http://schemas.microsoft.com/office/drawing/2014/main" val="20000"/>
                    </a:ext>
                  </a:extLst>
                </a:gridCol>
                <a:gridCol w="7662672">
                  <a:extLst>
                    <a:ext uri="{9D8B030D-6E8A-4147-A177-3AD203B41FA5}">
                      <a16:colId xmlns:a16="http://schemas.microsoft.com/office/drawing/2014/main" val="20001"/>
                    </a:ext>
                  </a:extLst>
                </a:gridCol>
              </a:tblGrid>
              <a:tr h="493776">
                <a:tc>
                  <a:txBody>
                    <a:bodyPr/>
                    <a:lstStyle/>
                    <a:p>
                      <a:pPr marL="0" indent="0">
                        <a:buNone/>
                      </a:pPr>
                      <a:r>
                        <a:rPr lang="en-US" sz="2200" b="1" dirty="0">
                          <a:solidFill>
                            <a:srgbClr val="FFFFFF"/>
                          </a:solidFill>
                          <a:latin typeface="Aptos" pitchFamily="34" charset="0"/>
                          <a:ea typeface="Aptos" pitchFamily="34" charset="-122"/>
                          <a:cs typeface="Aptos" pitchFamily="34" charset="-120"/>
                        </a:rPr>
                        <a:t>Componente</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Responsabilidad</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Interfaz y consola</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Cargar, ejecutar y mostrar el mismo estado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Unidad de control</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Coordinar Fetch, Decode y Execute</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Memoria y registros</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Conservar instrucciones, datos y estado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Controladores</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Adaptar teclado, archivos y salida</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4"/>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Reportes</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Conservar una instantánea de la ejecución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58368" y="5559552"/>
            <a:ext cx="10835640" cy="640080"/>
          </a:xfrm>
          <a:prstGeom prst="rect">
            <a:avLst/>
          </a:prstGeom>
          <a:noFill/>
          <a:ln/>
        </p:spPr>
        <p:txBody>
          <a:bodyPr wrap="square" lIns="0" tIns="0" rIns="0" bIns="0" rtlCol="0" anchor="ctr"/>
          <a:lstStyle/>
          <a:p>
            <a:pPr marL="0" indent="0">
              <a:buNone/>
            </a:pPr>
            <a:r>
              <a:rPr lang="en-US" sz="2500" b="1" dirty="0">
                <a:solidFill>
                  <a:srgbClr val="166B70"/>
                </a:solidFill>
                <a:latin typeface="Aptos" pitchFamily="34" charset="0"/>
                <a:ea typeface="Aptos" pitchFamily="34" charset="-122"/>
                <a:cs typeface="Aptos" pitchFamily="34" charset="-120"/>
              </a:rPr>
              <a:t>Un solo motor para las dos interfaces</a:t>
            </a:r>
            <a:endParaRPr lang="en-US"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Memoria e instrucciones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04</a:t>
            </a:r>
            <a:endParaRPr lang="en-US" sz="1000" dirty="0"/>
          </a:p>
        </p:txBody>
      </p:sp>
      <p:sp>
        <p:nvSpPr>
          <p:cNvPr id="5" name="Text 3"/>
          <p:cNvSpPr/>
          <p:nvPr/>
        </p:nvSpPr>
        <p:spPr>
          <a:xfrm>
            <a:off x="731520" y="1508760"/>
            <a:ext cx="3337560" cy="1234440"/>
          </a:xfrm>
          <a:prstGeom prst="rect">
            <a:avLst/>
          </a:prstGeom>
          <a:noFill/>
          <a:ln/>
        </p:spPr>
        <p:txBody>
          <a:bodyPr wrap="square" lIns="0" tIns="0" rIns="0" bIns="0" rtlCol="0" anchor="ctr"/>
          <a:lstStyle/>
          <a:p>
            <a:pPr marL="0" indent="0">
              <a:buNone/>
            </a:pPr>
            <a:r>
              <a:rPr lang="en-US" sz="3500" b="1" dirty="0">
                <a:solidFill>
                  <a:srgbClr val="166B70"/>
                </a:solidFill>
                <a:latin typeface="Aptos" pitchFamily="34" charset="0"/>
                <a:ea typeface="Aptos" pitchFamily="34" charset="-122"/>
                <a:cs typeface="Aptos" pitchFamily="34" charset="-120"/>
              </a:rPr>
              <a:t>100 celdas</a:t>
            </a:r>
            <a:endParaRPr lang="en-US" sz="3500" dirty="0"/>
          </a:p>
          <a:p>
            <a:pPr marL="0" indent="0">
              <a:buNone/>
            </a:pPr>
            <a:r>
              <a:rPr lang="en-US" sz="3500" b="1" dirty="0">
                <a:solidFill>
                  <a:srgbClr val="166B70"/>
                </a:solidFill>
                <a:latin typeface="Aptos" pitchFamily="34" charset="0"/>
                <a:ea typeface="Aptos" pitchFamily="34" charset="-122"/>
                <a:cs typeface="Aptos" pitchFamily="34" charset="-120"/>
              </a:rPr>
              <a:t>direcciones 0–99</a:t>
            </a:r>
            <a:endParaRPr lang="en-US" sz="3500" dirty="0"/>
          </a:p>
        </p:txBody>
      </p:sp>
      <p:sp>
        <p:nvSpPr>
          <p:cNvPr id="6" name="Text 4"/>
          <p:cNvSpPr/>
          <p:nvPr/>
        </p:nvSpPr>
        <p:spPr>
          <a:xfrm>
            <a:off x="731520" y="3291840"/>
            <a:ext cx="3337560" cy="1645920"/>
          </a:xfrm>
          <a:prstGeom prst="rect">
            <a:avLst/>
          </a:prstGeom>
          <a:noFill/>
          <a:ln/>
        </p:spPr>
        <p:txBody>
          <a:bodyPr wrap="square" lIns="0" tIns="0" rIns="0" bIns="0" rtlCol="0" anchor="ctr"/>
          <a:lstStyle/>
          <a:p>
            <a:pPr marL="0" indent="0">
              <a:buNone/>
            </a:pPr>
            <a:r>
              <a:rPr lang="en-US" sz="2300" dirty="0">
                <a:solidFill>
                  <a:srgbClr val="172D40"/>
                </a:solidFill>
                <a:latin typeface="Aptos" pitchFamily="34" charset="0"/>
                <a:ea typeface="Aptos" pitchFamily="34" charset="-122"/>
                <a:cs typeface="Aptos" pitchFamily="34" charset="-120"/>
              </a:rPr>
              <a:t>El código inicia en 0.</a:t>
            </a:r>
            <a:endParaRPr lang="en-US" sz="2300" dirty="0"/>
          </a:p>
          <a:p>
            <a:pPr marL="0" indent="0">
              <a:buNone/>
            </a:pPr>
            <a:r>
              <a:rPr lang="en-US" sz="2300" dirty="0">
                <a:solidFill>
                  <a:srgbClr val="172D40"/>
                </a:solidFill>
                <a:latin typeface="Aptos" pitchFamily="34" charset="0"/>
                <a:ea typeface="Aptos" pitchFamily="34" charset="-122"/>
                <a:cs typeface="Aptos" pitchFamily="34" charset="-120"/>
              </a:rPr>
              <a:t>DATA inicializa datos</a:t>
            </a:r>
            <a:endParaRPr lang="en-US" sz="2300" dirty="0"/>
          </a:p>
          <a:p>
            <a:pPr marL="0" indent="0">
              <a:buNone/>
            </a:pPr>
            <a:r>
              <a:rPr lang="en-US" sz="2300" dirty="0">
                <a:solidFill>
                  <a:srgbClr val="172D40"/>
                </a:solidFill>
                <a:latin typeface="Aptos" pitchFamily="34" charset="0"/>
                <a:ea typeface="Aptos" pitchFamily="34" charset="-122"/>
                <a:cs typeface="Aptos" pitchFamily="34" charset="-120"/>
              </a:rPr>
              <a:t>sin ocupar código.</a:t>
            </a:r>
            <a:endParaRPr lang="en-US" sz="2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389120" y="1481328"/>
          <a:ext cx="699516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640080">
                <a:tc>
                  <a:txBody>
                    <a:bodyPr/>
                    <a:lstStyle/>
                    <a:p>
                      <a:pPr marL="0" indent="0">
                        <a:buNone/>
                      </a:pPr>
                      <a:r>
                        <a:rPr lang="en-US" sz="1900" b="1" dirty="0">
                          <a:solidFill>
                            <a:srgbClr val="FFFFFF"/>
                          </a:solidFill>
                          <a:latin typeface="Aptos" pitchFamily="34" charset="0"/>
                          <a:ea typeface="Aptos" pitchFamily="34" charset="-122"/>
                          <a:cs typeface="Aptos" pitchFamily="34" charset="-120"/>
                        </a:rPr>
                        <a:t>Dirección</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1900" b="1" dirty="0">
                          <a:solidFill>
                            <a:srgbClr val="FFFFFF"/>
                          </a:solidFill>
                          <a:latin typeface="Aptos" pitchFamily="34" charset="0"/>
                          <a:ea typeface="Aptos" pitchFamily="34" charset="-122"/>
                          <a:cs typeface="Aptos" pitchFamily="34" charset="-120"/>
                        </a:rPr>
                        <a:t>Contenido inicial</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1900" b="1" dirty="0">
                          <a:solidFill>
                            <a:srgbClr val="FFFFFF"/>
                          </a:solidFill>
                          <a:latin typeface="Aptos" pitchFamily="34" charset="0"/>
                          <a:ea typeface="Aptos" pitchFamily="34" charset="-122"/>
                          <a:cs typeface="Aptos" pitchFamily="34" charset="-120"/>
                        </a:rPr>
                        <a:t>Tipo</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640080">
                <a:tc>
                  <a:txBody>
                    <a:bodyPr/>
                    <a:lstStyle/>
                    <a:p>
                      <a:pPr marL="0" indent="0">
                        <a:buNone/>
                      </a:pPr>
                      <a:r>
                        <a:rPr lang="en-US" sz="1900" dirty="0">
                          <a:solidFill>
                            <a:srgbClr val="172D40"/>
                          </a:solidFill>
                          <a:latin typeface="Aptos" pitchFamily="34" charset="0"/>
                          <a:ea typeface="Aptos" pitchFamily="34" charset="-122"/>
                          <a:cs typeface="Aptos" pitchFamily="34" charset="-120"/>
                        </a:rPr>
                        <a:t>0–4</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LOAD, ADD, STORE, OUTPUT, HALT</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Código</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900" dirty="0">
                          <a:solidFill>
                            <a:srgbClr val="172D40"/>
                          </a:solidFill>
                          <a:latin typeface="Aptos" pitchFamily="34" charset="0"/>
                          <a:ea typeface="Aptos" pitchFamily="34" charset="-122"/>
                          <a:cs typeface="Aptos" pitchFamily="34" charset="-120"/>
                        </a:rPr>
                        <a:t>10</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10</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Dato</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900" dirty="0">
                          <a:solidFill>
                            <a:srgbClr val="172D40"/>
                          </a:solidFill>
                          <a:latin typeface="Aptos" pitchFamily="34" charset="0"/>
                          <a:ea typeface="Aptos" pitchFamily="34" charset="-122"/>
                          <a:cs typeface="Aptos" pitchFamily="34" charset="-120"/>
                        </a:rPr>
                        <a:t>11</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20</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Dato</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900" dirty="0">
                          <a:solidFill>
                            <a:srgbClr val="172D40"/>
                          </a:solidFill>
                          <a:latin typeface="Aptos" pitchFamily="34" charset="0"/>
                          <a:ea typeface="Aptos" pitchFamily="34" charset="-122"/>
                          <a:cs typeface="Aptos" pitchFamily="34" charset="-120"/>
                        </a:rPr>
                        <a:t>20</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0 → 30 al ejecutar STORE</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1900" dirty="0">
                          <a:solidFill>
                            <a:srgbClr val="172D40"/>
                          </a:solidFill>
                          <a:latin typeface="Aptos" pitchFamily="34" charset="0"/>
                          <a:ea typeface="Aptos" pitchFamily="34" charset="-122"/>
                          <a:cs typeface="Aptos" pitchFamily="34" charset="-120"/>
                        </a:rPr>
                        <a:t>Dato</a:t>
                      </a:r>
                      <a:endParaRPr lang="en-US" sz="1900" dirty="0">
                        <a:latin typeface="Aptos" charset="0"/>
                        <a:ea typeface="Aptos" charset="0"/>
                        <a:cs typeface="Aptos" charset="0"/>
                      </a:endParaRPr>
                    </a:p>
                  </a:txBody>
                  <a:tcPr marL="146304" marR="146304" marT="146304" marB="146304">
                    <a:lnL w="8890" cap="flat" cmpd="sng" algn="ctr">
                      <a:solidFill>
                        <a:srgbClr val="D9E2EA"/>
                      </a:solidFill>
                      <a:prstDash val="solid"/>
                      <a:round/>
                      <a:headEnd type="none" w="med" len="med"/>
                      <a:tailEnd type="none" w="med" len="med"/>
                    </a:lnL>
                    <a:lnR w="8890" cap="flat" cmpd="sng" algn="ctr">
                      <a:solidFill>
                        <a:srgbClr val="D9E2EA"/>
                      </a:solidFill>
                      <a:prstDash val="solid"/>
                      <a:round/>
                      <a:headEnd type="none" w="med" len="med"/>
                      <a:tailEnd type="none" w="med" len="med"/>
                    </a:lnR>
                    <a:lnT w="8890" cap="flat" cmpd="sng" algn="ctr">
                      <a:solidFill>
                        <a:srgbClr val="D9E2EA"/>
                      </a:solidFill>
                      <a:prstDash val="solid"/>
                      <a:round/>
                      <a:headEnd type="none" w="med" len="med"/>
                      <a:tailEnd type="none" w="med" len="med"/>
                    </a:lnT>
                    <a:lnB w="889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Registros de la máquina</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05</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gridCol w="2816352">
                  <a:extLst>
                    <a:ext uri="{9D8B030D-6E8A-4147-A177-3AD203B41FA5}">
                      <a16:colId xmlns:a16="http://schemas.microsoft.com/office/drawing/2014/main" val="20002"/>
                    </a:ext>
                  </a:extLst>
                </a:gridCol>
              </a:tblGrid>
              <a:tr h="493776">
                <a:tc>
                  <a:txBody>
                    <a:bodyPr/>
                    <a:lstStyle/>
                    <a:p>
                      <a:pPr marL="0" indent="0">
                        <a:buNone/>
                      </a:pPr>
                      <a:r>
                        <a:rPr lang="en-US" sz="2200" b="1" dirty="0">
                          <a:solidFill>
                            <a:srgbClr val="FFFFFF"/>
                          </a:solidFill>
                          <a:latin typeface="Aptos" pitchFamily="34" charset="0"/>
                          <a:ea typeface="Aptos" pitchFamily="34" charset="-122"/>
                          <a:cs typeface="Aptos" pitchFamily="34" charset="-120"/>
                        </a:rPr>
                        <a:t>Registro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Función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Tras ADD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PC</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Dirección de la próxima instrucción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2</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IR</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Última instrucción obtenida</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ADD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ACC</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Dato de trabajo y resultado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Z / 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ACC es cero / ACC es negativo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0 / 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4"/>
                  </a:ext>
                </a:extLst>
              </a:tr>
            </a:tbl>
          </a:graphicData>
        </a:graphic>
      </p:graphicFrame>
      <p:sp>
        <p:nvSpPr>
          <p:cNvPr id="6" name="Text 3"/>
          <p:cNvSpPr/>
          <p:nvPr/>
        </p:nvSpPr>
        <p:spPr>
          <a:xfrm>
            <a:off x="658368" y="5486400"/>
            <a:ext cx="10835640" cy="640080"/>
          </a:xfrm>
          <a:prstGeom prst="rect">
            <a:avLst/>
          </a:prstGeom>
          <a:noFill/>
          <a:ln/>
        </p:spPr>
        <p:txBody>
          <a:bodyPr wrap="square" lIns="0" tIns="0" rIns="0" bIns="0" rtlCol="0" anchor="ctr"/>
          <a:lstStyle/>
          <a:p>
            <a:pPr marL="0" indent="0">
              <a:buNone/>
            </a:pPr>
            <a:r>
              <a:rPr lang="en-US" sz="2400" dirty="0">
                <a:solidFill>
                  <a:srgbClr val="166B70"/>
                </a:solidFill>
                <a:latin typeface="Aptos" pitchFamily="34" charset="0"/>
                <a:ea typeface="Aptos" pitchFamily="34" charset="-122"/>
                <a:cs typeface="Aptos" pitchFamily="34" charset="-120"/>
              </a:rPr>
              <a:t>PC es una dirección; IR es una instrucción; ACC es un dato.</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Lenguaje de instrucciones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06</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493776">
                <a:tc>
                  <a:txBody>
                    <a:bodyPr/>
                    <a:lstStyle/>
                    <a:p>
                      <a:pPr marL="0" indent="0">
                        <a:buNone/>
                      </a:pPr>
                      <a:r>
                        <a:rPr lang="en-US" sz="2100" b="1" dirty="0">
                          <a:solidFill>
                            <a:srgbClr val="FFFFFF"/>
                          </a:solidFill>
                          <a:latin typeface="Aptos" pitchFamily="34" charset="0"/>
                          <a:ea typeface="Aptos" pitchFamily="34" charset="-122"/>
                          <a:cs typeface="Aptos" pitchFamily="34" charset="-120"/>
                        </a:rPr>
                        <a:t>Grupo</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100" b="1" dirty="0">
                          <a:solidFill>
                            <a:srgbClr val="FFFFFF"/>
                          </a:solidFill>
                          <a:latin typeface="Aptos" pitchFamily="34" charset="0"/>
                          <a:ea typeface="Aptos" pitchFamily="34" charset="-122"/>
                          <a:cs typeface="Aptos" pitchFamily="34" charset="-120"/>
                        </a:rPr>
                        <a:t>Instrucciones</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100" b="1" dirty="0">
                          <a:solidFill>
                            <a:srgbClr val="FFFFFF"/>
                          </a:solidFill>
                          <a:latin typeface="Aptos" pitchFamily="34" charset="0"/>
                          <a:ea typeface="Aptos" pitchFamily="34" charset="-122"/>
                          <a:cs typeface="Aptos" pitchFamily="34" charset="-120"/>
                        </a:rPr>
                        <a:t>Efecto</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100" dirty="0">
                          <a:solidFill>
                            <a:srgbClr val="172D40"/>
                          </a:solidFill>
                          <a:latin typeface="Aptos" pitchFamily="34" charset="0"/>
                          <a:ea typeface="Aptos" pitchFamily="34" charset="-122"/>
                          <a:cs typeface="Aptos" pitchFamily="34" charset="-120"/>
                        </a:rPr>
                        <a:t>Transferencia</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LOAD · STORE</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Leer y escribir memoria</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100" dirty="0">
                          <a:solidFill>
                            <a:srgbClr val="172D40"/>
                          </a:solidFill>
                          <a:latin typeface="Aptos" pitchFamily="34" charset="0"/>
                          <a:ea typeface="Aptos" pitchFamily="34" charset="-122"/>
                          <a:cs typeface="Aptos" pitchFamily="34" charset="-120"/>
                        </a:rPr>
                        <a:t>Aritmética</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ADD · SUB</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Modificar ACC</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100" dirty="0">
                          <a:solidFill>
                            <a:srgbClr val="172D40"/>
                          </a:solidFill>
                          <a:latin typeface="Aptos" pitchFamily="34" charset="0"/>
                          <a:ea typeface="Aptos" pitchFamily="34" charset="-122"/>
                          <a:cs typeface="Aptos" pitchFamily="34" charset="-120"/>
                        </a:rPr>
                        <a:t>Control del flujo</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JMP · JZ · JNZ</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Cambiar PC</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2100" dirty="0">
                          <a:solidFill>
                            <a:srgbClr val="172D40"/>
                          </a:solidFill>
                          <a:latin typeface="Aptos" pitchFamily="34" charset="0"/>
                          <a:ea typeface="Aptos" pitchFamily="34" charset="-122"/>
                          <a:cs typeface="Aptos" pitchFamily="34" charset="-120"/>
                        </a:rPr>
                        <a:t>Entrada y salida</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INPUT · OUTPUT</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Leer y emitir enteros</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4"/>
                  </a:ext>
                </a:extLst>
              </a:tr>
              <a:tr h="493776">
                <a:tc>
                  <a:txBody>
                    <a:bodyPr/>
                    <a:lstStyle/>
                    <a:p>
                      <a:pPr marL="0" indent="0">
                        <a:buNone/>
                      </a:pPr>
                      <a:r>
                        <a:rPr lang="en-US" sz="2100" dirty="0">
                          <a:solidFill>
                            <a:srgbClr val="172D40"/>
                          </a:solidFill>
                          <a:latin typeface="Aptos" pitchFamily="34" charset="0"/>
                          <a:ea typeface="Aptos" pitchFamily="34" charset="-122"/>
                          <a:cs typeface="Aptos" pitchFamily="34" charset="-120"/>
                        </a:rPr>
                        <a:t>Terminación</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HALT</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100" dirty="0">
                          <a:solidFill>
                            <a:srgbClr val="172D40"/>
                          </a:solidFill>
                          <a:latin typeface="Aptos" pitchFamily="34" charset="0"/>
                          <a:ea typeface="Aptos" pitchFamily="34" charset="-122"/>
                          <a:cs typeface="Aptos" pitchFamily="34" charset="-120"/>
                        </a:rPr>
                        <a:t>Detener la ejecución</a:t>
                      </a:r>
                      <a:endParaRPr lang="en-US" sz="21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58368" y="5559552"/>
            <a:ext cx="10835640" cy="640080"/>
          </a:xfrm>
          <a:prstGeom prst="rect">
            <a:avLst/>
          </a:prstGeom>
          <a:noFill/>
          <a:ln/>
        </p:spPr>
        <p:txBody>
          <a:bodyPr wrap="square" lIns="0" tIns="0" rIns="0" bIns="0" rtlCol="0" anchor="ctr"/>
          <a:lstStyle/>
          <a:p>
            <a:pPr marL="0" indent="0">
              <a:buNone/>
            </a:pPr>
            <a:r>
              <a:rPr lang="en-US" sz="2200" dirty="0">
                <a:solidFill>
                  <a:srgbClr val="166B70"/>
                </a:solidFill>
                <a:latin typeface="Aptos" pitchFamily="34" charset="0"/>
                <a:ea typeface="Aptos" pitchFamily="34" charset="-122"/>
                <a:cs typeface="Aptos" pitchFamily="34" charset="-120"/>
              </a:rPr>
              <a:t>DATA dir valor es una directiva del cargador; no consume ciclos.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Ciclo Fetch Decode Execute</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07</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187452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639312">
                  <a:extLst>
                    <a:ext uri="{9D8B030D-6E8A-4147-A177-3AD203B41FA5}">
                      <a16:colId xmlns:a16="http://schemas.microsoft.com/office/drawing/2014/main" val="20002"/>
                    </a:ext>
                  </a:extLst>
                </a:gridCol>
              </a:tblGrid>
              <a:tr h="493776">
                <a:tc>
                  <a:txBody>
                    <a:bodyPr/>
                    <a:lstStyle/>
                    <a:p>
                      <a:pPr marL="0" indent="0">
                        <a:buNone/>
                      </a:pPr>
                      <a:r>
                        <a:rPr lang="en-US" sz="2200" b="1" dirty="0">
                          <a:solidFill>
                            <a:srgbClr val="FFFFFF"/>
                          </a:solidFill>
                          <a:latin typeface="Aptos" pitchFamily="34" charset="0"/>
                          <a:ea typeface="Aptos" pitchFamily="34" charset="-122"/>
                          <a:cs typeface="Aptos" pitchFamily="34" charset="-120"/>
                        </a:rPr>
                        <a:t>Fase</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Operación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Ejemplo ADD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FETCH</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Leer Mem[PC] y copiar a IR</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IR = ADD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DECODE</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Identificar opcode y operando</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Operación ADD; dirección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EXECUTE</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Aplicar el efecto de la operación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ACC = 10 + 20 = 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685800" y="4754880"/>
            <a:ext cx="10789920" cy="914400"/>
          </a:xfrm>
          <a:prstGeom prst="rect">
            <a:avLst/>
          </a:prstGeom>
          <a:noFill/>
          <a:ln/>
        </p:spPr>
        <p:txBody>
          <a:bodyPr wrap="square" lIns="0" tIns="0" rIns="0" bIns="0" rtlCol="0" anchor="ctr"/>
          <a:lstStyle/>
          <a:p>
            <a:pPr marL="0" indent="0">
              <a:buNone/>
            </a:pPr>
            <a:r>
              <a:rPr lang="en-US" sz="2400" dirty="0">
                <a:solidFill>
                  <a:srgbClr val="166B70"/>
                </a:solidFill>
                <a:latin typeface="Aptos" pitchFamily="34" charset="0"/>
                <a:ea typeface="Aptos" pitchFamily="34" charset="-122"/>
                <a:cs typeface="Aptos" pitchFamily="34" charset="-120"/>
              </a:rPr>
              <a:t>El PC se incrementa después de Decode y antes de Execute.</a:t>
            </a:r>
            <a:endParaRPr lang="en-US" sz="2400" dirty="0"/>
          </a:p>
          <a:p>
            <a:pPr marL="0" indent="0">
              <a:buNone/>
            </a:pPr>
            <a:r>
              <a:rPr lang="en-US" sz="2400" dirty="0">
                <a:solidFill>
                  <a:srgbClr val="166B70"/>
                </a:solidFill>
                <a:latin typeface="Aptos" pitchFamily="34" charset="0"/>
                <a:ea typeface="Aptos" pitchFamily="34" charset="-122"/>
                <a:cs typeface="Aptos" pitchFamily="34" charset="-120"/>
              </a:rPr>
              <a:t>Un salto puede reemplazar ese destino.</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Traza de la suma</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08</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4572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493776">
                <a:tc>
                  <a:txBody>
                    <a:bodyPr/>
                    <a:lstStyle/>
                    <a:p>
                      <a:pPr marL="0" indent="0">
                        <a:buNone/>
                      </a:pPr>
                      <a:r>
                        <a:rPr lang="en-US" sz="2200" b="1" dirty="0">
                          <a:solidFill>
                            <a:srgbClr val="FFFFFF"/>
                          </a:solidFill>
                          <a:latin typeface="Aptos" pitchFamily="34" charset="0"/>
                          <a:ea typeface="Aptos" pitchFamily="34" charset="-122"/>
                          <a:cs typeface="Aptos" pitchFamily="34" charset="-120"/>
                        </a:rPr>
                        <a:t>Instrucción</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PC final</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ACC final</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200" b="1" dirty="0">
                          <a:solidFill>
                            <a:srgbClr val="FFFFFF"/>
                          </a:solidFill>
                          <a:latin typeface="Aptos" pitchFamily="34" charset="0"/>
                          <a:ea typeface="Aptos" pitchFamily="34" charset="-122"/>
                          <a:cs typeface="Aptos" pitchFamily="34" charset="-120"/>
                        </a:rPr>
                        <a:t>Mem[20]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LOAD 10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10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ADD 11</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2</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STORE 20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OUTPUT</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4</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4"/>
                  </a:ext>
                </a:extLst>
              </a:tr>
              <a:tr h="493776">
                <a:tc>
                  <a:txBody>
                    <a:bodyPr/>
                    <a:lstStyle/>
                    <a:p>
                      <a:pPr marL="0" indent="0">
                        <a:buNone/>
                      </a:pPr>
                      <a:r>
                        <a:rPr lang="en-US" sz="2200" dirty="0">
                          <a:solidFill>
                            <a:srgbClr val="172D40"/>
                          </a:solidFill>
                          <a:latin typeface="Aptos" pitchFamily="34" charset="0"/>
                          <a:ea typeface="Aptos" pitchFamily="34" charset="-122"/>
                          <a:cs typeface="Aptos" pitchFamily="34" charset="-120"/>
                        </a:rPr>
                        <a:t>HALT</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5</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200" dirty="0">
                          <a:solidFill>
                            <a:srgbClr val="172D40"/>
                          </a:solidFill>
                          <a:latin typeface="Aptos" pitchFamily="34" charset="0"/>
                          <a:ea typeface="Aptos" pitchFamily="34" charset="-122"/>
                          <a:cs typeface="Aptos" pitchFamily="34" charset="-120"/>
                        </a:rPr>
                        <a:t>30</a:t>
                      </a:r>
                      <a:endParaRPr lang="en-US" sz="22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58368" y="5559552"/>
            <a:ext cx="10835640" cy="640080"/>
          </a:xfrm>
          <a:prstGeom prst="rect">
            <a:avLst/>
          </a:prstGeom>
          <a:noFill/>
          <a:ln/>
        </p:spPr>
        <p:txBody>
          <a:bodyPr wrap="square" lIns="0" tIns="0" rIns="0" bIns="0" rtlCol="0" anchor="ctr"/>
          <a:lstStyle/>
          <a:p>
            <a:pPr marL="0" indent="0">
              <a:buNone/>
            </a:pPr>
            <a:r>
              <a:rPr lang="en-US" sz="2200" dirty="0">
                <a:solidFill>
                  <a:srgbClr val="166B70"/>
                </a:solidFill>
                <a:latin typeface="Aptos" pitchFamily="34" charset="0"/>
                <a:ea typeface="Aptos" pitchFamily="34" charset="-122"/>
                <a:cs typeface="Aptos" pitchFamily="34" charset="-120"/>
              </a:rPr>
              <a:t>Datos iniciales: Mem[10] = 10 y Mem[11] = 20   ·   Salida: 30</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Demostración de la interfaz</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09</a:t>
            </a:r>
            <a:endParaRPr lang="en-US" sz="1000" dirty="0"/>
          </a:p>
        </p:txBody>
      </p:sp>
      <p:pic>
        <p:nvPicPr>
          <p:cNvPr id="5" name="Image 0" descr="Captura real de VM Studio"/>
          <p:cNvPicPr>
            <a:picLocks noChangeAspect="1"/>
          </p:cNvPicPr>
          <p:nvPr/>
        </p:nvPicPr>
        <p:blipFill>
          <a:blip r:embed="rId3"/>
          <a:stretch>
            <a:fillRect/>
          </a:stretch>
        </p:blipFill>
        <p:spPr>
          <a:xfrm>
            <a:off x="2387107" y="1188720"/>
            <a:ext cx="7423883" cy="5074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Saltos y bucles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10</a:t>
            </a:r>
            <a:endParaRPr lang="en-US" sz="1000" dirty="0"/>
          </a:p>
        </p:txBody>
      </p:sp>
      <p:sp>
        <p:nvSpPr>
          <p:cNvPr id="5" name="Text 3"/>
          <p:cNvSpPr/>
          <p:nvPr/>
        </p:nvSpPr>
        <p:spPr>
          <a:xfrm>
            <a:off x="731520" y="1508760"/>
            <a:ext cx="5029200" cy="594360"/>
          </a:xfrm>
          <a:prstGeom prst="rect">
            <a:avLst/>
          </a:prstGeom>
          <a:noFill/>
          <a:ln/>
        </p:spPr>
        <p:txBody>
          <a:bodyPr wrap="square" lIns="0" tIns="0" rIns="0" bIns="0" rtlCol="0" anchor="ctr"/>
          <a:lstStyle/>
          <a:p>
            <a:pPr marL="0" indent="0">
              <a:buNone/>
            </a:pPr>
            <a:r>
              <a:rPr lang="en-US" sz="2700" b="1" dirty="0">
                <a:solidFill>
                  <a:srgbClr val="166B70"/>
                </a:solidFill>
                <a:latin typeface="Aptos" pitchFamily="34" charset="0"/>
                <a:ea typeface="Aptos" pitchFamily="34" charset="-122"/>
                <a:cs typeface="Aptos" pitchFamily="34" charset="-120"/>
              </a:rPr>
              <a:t>JZ: salto condicional</a:t>
            </a:r>
            <a:endParaRPr lang="en-US" sz="2700" dirty="0"/>
          </a:p>
        </p:txBody>
      </p:sp>
      <p:sp>
        <p:nvSpPr>
          <p:cNvPr id="6" name="Text 4"/>
          <p:cNvSpPr/>
          <p:nvPr/>
        </p:nvSpPr>
        <p:spPr>
          <a:xfrm>
            <a:off x="731520" y="2395728"/>
            <a:ext cx="4983480" cy="2487168"/>
          </a:xfrm>
          <a:prstGeom prst="rect">
            <a:avLst/>
          </a:prstGeom>
          <a:noFill/>
          <a:ln/>
        </p:spPr>
        <p:txBody>
          <a:bodyPr wrap="square" lIns="0" tIns="0" rIns="0" bIns="0" rtlCol="0" anchor="ctr"/>
          <a:lstStyle/>
          <a:p>
            <a:pPr marL="0" indent="0">
              <a:buNone/>
            </a:pPr>
            <a:r>
              <a:rPr lang="en-US" sz="2500" dirty="0">
                <a:solidFill>
                  <a:srgbClr val="172D40"/>
                </a:solidFill>
                <a:latin typeface="Consolas" pitchFamily="34" charset="0"/>
                <a:ea typeface="Consolas" pitchFamily="34" charset="-122"/>
                <a:cs typeface="Consolas" pitchFamily="34" charset="-120"/>
              </a:rPr>
              <a:t>20 − 20 = 0</a:t>
            </a:r>
            <a:endParaRPr lang="en-US" sz="2500" dirty="0"/>
          </a:p>
          <a:p>
            <a:pPr marL="0" indent="0">
              <a:buNone/>
            </a:pPr>
            <a:r>
              <a:rPr lang="en-US" sz="2500" dirty="0">
                <a:solidFill>
                  <a:srgbClr val="172D40"/>
                </a:solidFill>
                <a:latin typeface="Consolas" pitchFamily="34" charset="0"/>
                <a:ea typeface="Consolas" pitchFamily="34" charset="-122"/>
                <a:cs typeface="Consolas" pitchFamily="34" charset="-120"/>
              </a:rPr>
              <a:t>Z = 1</a:t>
            </a:r>
            <a:endParaRPr lang="en-US" sz="2500" dirty="0"/>
          </a:p>
          <a:p>
            <a:pPr marL="0" indent="0">
              <a:buNone/>
            </a:pPr>
            <a:r>
              <a:rPr lang="en-US" sz="2500" dirty="0">
                <a:solidFill>
                  <a:srgbClr val="172D40"/>
                </a:solidFill>
                <a:latin typeface="Consolas" pitchFamily="34" charset="0"/>
                <a:ea typeface="Consolas" pitchFamily="34" charset="-122"/>
                <a:cs typeface="Consolas" pitchFamily="34" charset="-120"/>
              </a:rPr>
              <a:t>JZ 6 toma el salto</a:t>
            </a:r>
            <a:endParaRPr lang="en-US" sz="2500" dirty="0"/>
          </a:p>
          <a:p>
            <a:pPr marL="0" indent="0">
              <a:buNone/>
            </a:pPr>
            <a:r>
              <a:rPr lang="en-US" sz="2500" dirty="0">
                <a:solidFill>
                  <a:srgbClr val="172D40"/>
                </a:solidFill>
                <a:latin typeface="Consolas" pitchFamily="34" charset="0"/>
                <a:ea typeface="Consolas" pitchFamily="34" charset="-122"/>
                <a:cs typeface="Consolas" pitchFamily="34" charset="-120"/>
              </a:rPr>
              <a:t>Salida: 111</a:t>
            </a:r>
            <a:endParaRPr lang="en-US" sz="2500" dirty="0"/>
          </a:p>
        </p:txBody>
      </p:sp>
      <p:sp>
        <p:nvSpPr>
          <p:cNvPr id="7" name="Text 5"/>
          <p:cNvSpPr/>
          <p:nvPr/>
        </p:nvSpPr>
        <p:spPr>
          <a:xfrm>
            <a:off x="6446520" y="1508760"/>
            <a:ext cx="5029200" cy="594360"/>
          </a:xfrm>
          <a:prstGeom prst="rect">
            <a:avLst/>
          </a:prstGeom>
          <a:noFill/>
          <a:ln/>
        </p:spPr>
        <p:txBody>
          <a:bodyPr wrap="square" lIns="0" tIns="0" rIns="0" bIns="0" rtlCol="0" anchor="ctr"/>
          <a:lstStyle/>
          <a:p>
            <a:pPr marL="0" indent="0">
              <a:buNone/>
            </a:pPr>
            <a:r>
              <a:rPr lang="en-US" sz="2700" b="1" dirty="0">
                <a:solidFill>
                  <a:srgbClr val="166B70"/>
                </a:solidFill>
                <a:latin typeface="Aptos" pitchFamily="34" charset="0"/>
                <a:ea typeface="Aptos" pitchFamily="34" charset="-122"/>
                <a:cs typeface="Aptos" pitchFamily="34" charset="-120"/>
              </a:rPr>
              <a:t>JNZ: repetición</a:t>
            </a:r>
            <a:endParaRPr lang="en-US" sz="2700" dirty="0"/>
          </a:p>
        </p:txBody>
      </p:sp>
      <p:sp>
        <p:nvSpPr>
          <p:cNvPr id="8" name="Text 6"/>
          <p:cNvSpPr/>
          <p:nvPr/>
        </p:nvSpPr>
        <p:spPr>
          <a:xfrm>
            <a:off x="6446520" y="2395728"/>
            <a:ext cx="5029200" cy="2487168"/>
          </a:xfrm>
          <a:prstGeom prst="rect">
            <a:avLst/>
          </a:prstGeom>
          <a:noFill/>
          <a:ln/>
        </p:spPr>
        <p:txBody>
          <a:bodyPr wrap="square" lIns="0" tIns="0" rIns="0" bIns="0" rtlCol="0" anchor="ctr"/>
          <a:lstStyle/>
          <a:p>
            <a:pPr marL="0" indent="0">
              <a:buNone/>
            </a:pPr>
            <a:r>
              <a:rPr lang="en-US" sz="2400" dirty="0">
                <a:solidFill>
                  <a:srgbClr val="172D40"/>
                </a:solidFill>
                <a:latin typeface="Consolas" pitchFamily="34" charset="0"/>
                <a:ea typeface="Consolas" pitchFamily="34" charset="-122"/>
                <a:cs typeface="Consolas" pitchFamily="34" charset="-120"/>
              </a:rPr>
              <a:t>Contador: 3, 2, 1, 0</a:t>
            </a:r>
            <a:endParaRPr lang="en-US" sz="2400" dirty="0"/>
          </a:p>
          <a:p>
            <a:pPr marL="0" indent="0">
              <a:buNone/>
            </a:pPr>
            <a:r>
              <a:rPr lang="en-US" sz="2400" dirty="0">
                <a:solidFill>
                  <a:srgbClr val="172D40"/>
                </a:solidFill>
                <a:latin typeface="Consolas" pitchFamily="34" charset="0"/>
                <a:ea typeface="Consolas" pitchFamily="34" charset="-122"/>
                <a:cs typeface="Consolas" pitchFamily="34" charset="-120"/>
              </a:rPr>
              <a:t>Repetir mientras Z = 0</a:t>
            </a:r>
            <a:endParaRPr lang="en-US" sz="2400" dirty="0"/>
          </a:p>
          <a:p>
            <a:pPr marL="0" indent="0">
              <a:buNone/>
            </a:pPr>
            <a:r>
              <a:rPr lang="en-US" sz="2400" dirty="0">
                <a:solidFill>
                  <a:srgbClr val="172D40"/>
                </a:solidFill>
                <a:latin typeface="Consolas" pitchFamily="34" charset="0"/>
                <a:ea typeface="Consolas" pitchFamily="34" charset="-122"/>
                <a:cs typeface="Consolas" pitchFamily="34" charset="-120"/>
              </a:rPr>
              <a:t>Acumular 3 + 2 + 1</a:t>
            </a:r>
            <a:endParaRPr lang="en-US" sz="2400" dirty="0"/>
          </a:p>
          <a:p>
            <a:pPr marL="0" indent="0">
              <a:buNone/>
            </a:pPr>
            <a:r>
              <a:rPr lang="en-US" sz="2400" dirty="0">
                <a:solidFill>
                  <a:srgbClr val="172D40"/>
                </a:solidFill>
                <a:latin typeface="Consolas" pitchFamily="34" charset="0"/>
                <a:ea typeface="Consolas" pitchFamily="34" charset="-122"/>
                <a:cs typeface="Consolas" pitchFamily="34" charset="-120"/>
              </a:rPr>
              <a:t>Salida: 6</a:t>
            </a:r>
            <a:endParaRPr lang="en-US" sz="2400" dirty="0"/>
          </a:p>
        </p:txBody>
      </p:sp>
      <p:sp>
        <p:nvSpPr>
          <p:cNvPr id="9" name="Text 7"/>
          <p:cNvSpPr/>
          <p:nvPr/>
        </p:nvSpPr>
        <p:spPr>
          <a:xfrm>
            <a:off x="658368" y="5532120"/>
            <a:ext cx="10835640" cy="640080"/>
          </a:xfrm>
          <a:prstGeom prst="rect">
            <a:avLst/>
          </a:prstGeom>
          <a:noFill/>
          <a:ln/>
        </p:spPr>
        <p:txBody>
          <a:bodyPr wrap="square" lIns="0" tIns="0" rIns="0" bIns="0" rtlCol="0" anchor="ctr"/>
          <a:lstStyle/>
          <a:p>
            <a:pPr marL="0" indent="0">
              <a:buNone/>
            </a:pPr>
            <a:r>
              <a:rPr lang="en-US" sz="2200" dirty="0">
                <a:solidFill>
                  <a:srgbClr val="172D40"/>
                </a:solidFill>
                <a:latin typeface="Aptos" pitchFamily="34" charset="0"/>
                <a:ea typeface="Aptos" pitchFamily="34" charset="-122"/>
                <a:cs typeface="Aptos" pitchFamily="34" charset="-120"/>
              </a:rPr>
              <a:t>Tener HALT en el archivo no garantiza alcanzarlo: el límite protege la ejecución.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Dispositivos virtuales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11</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017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493776">
                <a:tc>
                  <a:txBody>
                    <a:bodyPr/>
                    <a:lstStyle/>
                    <a:p>
                      <a:pPr marL="0" indent="0">
                        <a:buNone/>
                      </a:pPr>
                      <a:r>
                        <a:rPr lang="en-US" sz="2300" b="1" dirty="0">
                          <a:solidFill>
                            <a:srgbClr val="FFFFFF"/>
                          </a:solidFill>
                          <a:latin typeface="Aptos" pitchFamily="34" charset="0"/>
                          <a:ea typeface="Aptos" pitchFamily="34" charset="-122"/>
                          <a:cs typeface="Aptos" pitchFamily="34" charset="-120"/>
                        </a:rPr>
                        <a:t>Controlador</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300" b="1" dirty="0">
                          <a:solidFill>
                            <a:srgbClr val="FFFFFF"/>
                          </a:solidFill>
                          <a:latin typeface="Aptos" pitchFamily="34" charset="0"/>
                          <a:ea typeface="Aptos" pitchFamily="34" charset="-122"/>
                          <a:cs typeface="Aptos" pitchFamily="34" charset="-120"/>
                        </a:rPr>
                        <a:t>Interacción</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300" b="1" dirty="0">
                          <a:solidFill>
                            <a:srgbClr val="FFFFFF"/>
                          </a:solidFill>
                          <a:latin typeface="Aptos" pitchFamily="34" charset="0"/>
                          <a:ea typeface="Aptos" pitchFamily="34" charset="-122"/>
                          <a:cs typeface="Aptos" pitchFamily="34" charset="-120"/>
                        </a:rPr>
                        <a:t>Resultado observable</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300" dirty="0">
                          <a:solidFill>
                            <a:srgbClr val="172D40"/>
                          </a:solidFill>
                          <a:latin typeface="Aptos" pitchFamily="34" charset="0"/>
                          <a:ea typeface="Aptos" pitchFamily="34" charset="-122"/>
                          <a:cs typeface="Aptos" pitchFamily="34" charset="-120"/>
                        </a:rPr>
                        <a:t>Teclado</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INPUT recibe un entero</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ACC = 7</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300" dirty="0">
                          <a:solidFill>
                            <a:srgbClr val="172D40"/>
                          </a:solidFill>
                          <a:latin typeface="Aptos" pitchFamily="34" charset="0"/>
                          <a:ea typeface="Aptos" pitchFamily="34" charset="-122"/>
                          <a:cs typeface="Aptos" pitchFamily="34" charset="-120"/>
                        </a:rPr>
                        <a:t>Disco</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Leer y analizar un archivo ASM</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Programa instalado en memoria</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300" dirty="0">
                          <a:solidFill>
                            <a:srgbClr val="172D40"/>
                          </a:solidFill>
                          <a:latin typeface="Aptos" pitchFamily="34" charset="0"/>
                          <a:ea typeface="Aptos" pitchFamily="34" charset="-122"/>
                          <a:cs typeface="Aptos" pitchFamily="34" charset="-120"/>
                        </a:rPr>
                        <a:t>Impresora</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OUTPUT emite ACC</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300" dirty="0">
                          <a:solidFill>
                            <a:srgbClr val="172D40"/>
                          </a:solidFill>
                          <a:latin typeface="Aptos" pitchFamily="34" charset="0"/>
                          <a:ea typeface="Aptos" pitchFamily="34" charset="-122"/>
                          <a:cs typeface="Aptos" pitchFamily="34" charset="-120"/>
                        </a:rPr>
                        <a:t>Salida virtual: [7]</a:t>
                      </a:r>
                      <a:endParaRPr lang="en-US" sz="23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685800" y="4956048"/>
            <a:ext cx="10789920" cy="868680"/>
          </a:xfrm>
          <a:prstGeom prst="rect">
            <a:avLst/>
          </a:prstGeom>
          <a:noFill/>
          <a:ln/>
        </p:spPr>
        <p:txBody>
          <a:bodyPr wrap="square" lIns="0" tIns="0" rIns="0" bIns="0" rtlCol="0" anchor="ctr"/>
          <a:lstStyle/>
          <a:p>
            <a:pPr marL="0" indent="0">
              <a:buNone/>
            </a:pPr>
            <a:r>
              <a:rPr lang="en-US" sz="2500" dirty="0">
                <a:solidFill>
                  <a:srgbClr val="166B70"/>
                </a:solidFill>
                <a:latin typeface="Aptos" pitchFamily="34" charset="0"/>
                <a:ea typeface="Aptos" pitchFamily="34" charset="-122"/>
                <a:cs typeface="Aptos" pitchFamily="34" charset="-120"/>
              </a:rPr>
              <a:t>Cancelar INPUT conserva la instrucción pendiente</a:t>
            </a:r>
            <a:endParaRPr lang="en-US" sz="2500" dirty="0"/>
          </a:p>
          <a:p>
            <a:pPr marL="0" indent="0">
              <a:buNone/>
            </a:pPr>
            <a:r>
              <a:rPr lang="en-US" sz="2500" dirty="0">
                <a:solidFill>
                  <a:srgbClr val="166B70"/>
                </a:solidFill>
                <a:latin typeface="Aptos" pitchFamily="34" charset="0"/>
                <a:ea typeface="Aptos" pitchFamily="34" charset="-122"/>
                <a:cs typeface="Aptos" pitchFamily="34" charset="-120"/>
              </a:rPr>
              <a:t>y permite reintentar sin sumar un ciclo.</a:t>
            </a:r>
            <a:endParaRPr lang="en-US" sz="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Manejo de errores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12</a:t>
            </a:r>
            <a:endParaRPr lang="en-US" sz="1000" dirty="0"/>
          </a:p>
        </p:txBody>
      </p:sp>
      <p:pic>
        <p:nvPicPr>
          <p:cNvPr id="5" name="Image 0" descr="Captura real de VM Studio"/>
          <p:cNvPicPr>
            <a:picLocks noChangeAspect="1"/>
          </p:cNvPicPr>
          <p:nvPr/>
        </p:nvPicPr>
        <p:blipFill>
          <a:blip r:embed="rId3"/>
          <a:stretch>
            <a:fillRect/>
          </a:stretch>
        </p:blipFill>
        <p:spPr>
          <a:xfrm>
            <a:off x="640080" y="1446895"/>
            <a:ext cx="6949440" cy="4750594"/>
          </a:xfrm>
          <a:prstGeom prst="rect">
            <a:avLst/>
          </a:prstGeom>
        </p:spPr>
      </p:pic>
      <p:sp>
        <p:nvSpPr>
          <p:cNvPr id="6" name="Text 3"/>
          <p:cNvSpPr/>
          <p:nvPr/>
        </p:nvSpPr>
        <p:spPr>
          <a:xfrm>
            <a:off x="7909560" y="1691640"/>
            <a:ext cx="3520440" cy="457200"/>
          </a:xfrm>
          <a:prstGeom prst="rect">
            <a:avLst/>
          </a:prstGeom>
          <a:noFill/>
          <a:ln/>
        </p:spPr>
        <p:txBody>
          <a:bodyPr wrap="square" lIns="0" tIns="0" rIns="0" bIns="0" rtlCol="0" anchor="ctr"/>
          <a:lstStyle/>
          <a:p>
            <a:pPr marL="0" indent="0">
              <a:buNone/>
            </a:pPr>
            <a:r>
              <a:rPr lang="en-US" sz="2400" b="1" dirty="0">
                <a:solidFill>
                  <a:srgbClr val="166B70"/>
                </a:solidFill>
                <a:latin typeface="Aptos" pitchFamily="34" charset="0"/>
                <a:ea typeface="Aptos" pitchFamily="34" charset="-122"/>
                <a:cs typeface="Aptos" pitchFamily="34" charset="-120"/>
              </a:rPr>
              <a:t>Durante la carga</a:t>
            </a:r>
            <a:endParaRPr lang="en-US" sz="2400" dirty="0"/>
          </a:p>
        </p:txBody>
      </p:sp>
      <p:sp>
        <p:nvSpPr>
          <p:cNvPr id="7" name="Text 4"/>
          <p:cNvSpPr/>
          <p:nvPr/>
        </p:nvSpPr>
        <p:spPr>
          <a:xfrm>
            <a:off x="7909560" y="2331720"/>
            <a:ext cx="3520440" cy="1325880"/>
          </a:xfrm>
          <a:prstGeom prst="rect">
            <a:avLst/>
          </a:prstGeom>
          <a:noFill/>
          <a:ln/>
        </p:spPr>
        <p:txBody>
          <a:bodyPr wrap="square" lIns="0" tIns="0" rIns="0" bIns="0" rtlCol="0" anchor="ctr"/>
          <a:lstStyle/>
          <a:p>
            <a:pPr marL="0" indent="0">
              <a:buNone/>
            </a:pPr>
            <a:r>
              <a:rPr lang="en-US" sz="2100" dirty="0">
                <a:solidFill>
                  <a:srgbClr val="172D40"/>
                </a:solidFill>
                <a:latin typeface="Aptos" pitchFamily="34" charset="0"/>
                <a:ea typeface="Aptos" pitchFamily="34" charset="-122"/>
                <a:cs typeface="Aptos" pitchFamily="34" charset="-120"/>
              </a:rPr>
              <a:t>MULT 10</a:t>
            </a:r>
            <a:endParaRPr lang="en-US" sz="2100" dirty="0"/>
          </a:p>
          <a:p>
            <a:pPr marL="0" indent="0">
              <a:buNone/>
            </a:pPr>
            <a:r>
              <a:rPr lang="en-US" sz="2100" dirty="0">
                <a:solidFill>
                  <a:srgbClr val="172D40"/>
                </a:solidFill>
                <a:latin typeface="Aptos" pitchFamily="34" charset="0"/>
                <a:ea typeface="Aptos" pitchFamily="34" charset="-122"/>
                <a:cs typeface="Aptos" pitchFamily="34" charset="-120"/>
              </a:rPr>
              <a:t>Carga rechazada.</a:t>
            </a:r>
            <a:endParaRPr lang="en-US" sz="2100" dirty="0"/>
          </a:p>
          <a:p>
            <a:pPr marL="0" indent="0">
              <a:buNone/>
            </a:pPr>
            <a:r>
              <a:rPr lang="en-US" sz="2100" dirty="0">
                <a:solidFill>
                  <a:srgbClr val="172D40"/>
                </a:solidFill>
                <a:latin typeface="Aptos" pitchFamily="34" charset="0"/>
                <a:ea typeface="Aptos" pitchFamily="34" charset="-122"/>
                <a:cs typeface="Aptos" pitchFamily="34" charset="-120"/>
              </a:rPr>
              <a:t>Se conserva lo anterior.</a:t>
            </a:r>
            <a:endParaRPr lang="en-US" sz="2100" dirty="0"/>
          </a:p>
        </p:txBody>
      </p:sp>
      <p:sp>
        <p:nvSpPr>
          <p:cNvPr id="8" name="Text 5"/>
          <p:cNvSpPr/>
          <p:nvPr/>
        </p:nvSpPr>
        <p:spPr>
          <a:xfrm>
            <a:off x="7909560" y="3886200"/>
            <a:ext cx="3566160" cy="502920"/>
          </a:xfrm>
          <a:prstGeom prst="rect">
            <a:avLst/>
          </a:prstGeom>
          <a:noFill/>
          <a:ln/>
        </p:spPr>
        <p:txBody>
          <a:bodyPr wrap="square" lIns="0" tIns="0" rIns="0" bIns="0" rtlCol="0" anchor="ctr"/>
          <a:lstStyle/>
          <a:p>
            <a:pPr marL="0" indent="0">
              <a:buNone/>
            </a:pPr>
            <a:r>
              <a:rPr lang="en-US" sz="2300" b="1" dirty="0">
                <a:solidFill>
                  <a:srgbClr val="166B70"/>
                </a:solidFill>
                <a:latin typeface="Aptos" pitchFamily="34" charset="0"/>
                <a:ea typeface="Aptos" pitchFamily="34" charset="-122"/>
                <a:cs typeface="Aptos" pitchFamily="34" charset="-120"/>
              </a:rPr>
              <a:t>Durante la ejecución</a:t>
            </a:r>
            <a:endParaRPr lang="en-US" sz="2300" dirty="0"/>
          </a:p>
        </p:txBody>
      </p:sp>
      <p:sp>
        <p:nvSpPr>
          <p:cNvPr id="9" name="Text 6"/>
          <p:cNvSpPr/>
          <p:nvPr/>
        </p:nvSpPr>
        <p:spPr>
          <a:xfrm>
            <a:off x="7909560" y="4553712"/>
            <a:ext cx="3566160" cy="1325880"/>
          </a:xfrm>
          <a:prstGeom prst="rect">
            <a:avLst/>
          </a:prstGeom>
          <a:noFill/>
          <a:ln/>
        </p:spPr>
        <p:txBody>
          <a:bodyPr wrap="square" lIns="0" tIns="0" rIns="0" bIns="0" rtlCol="0" anchor="ctr"/>
          <a:lstStyle/>
          <a:p>
            <a:pPr marL="0" indent="0">
              <a:buNone/>
            </a:pPr>
            <a:r>
              <a:rPr lang="en-US" sz="2100" dirty="0">
                <a:solidFill>
                  <a:srgbClr val="172D40"/>
                </a:solidFill>
                <a:latin typeface="Aptos" pitchFamily="34" charset="0"/>
                <a:ea typeface="Aptos" pitchFamily="34" charset="-122"/>
                <a:cs typeface="Aptos" pitchFamily="34" charset="-120"/>
              </a:rPr>
              <a:t>LOAD 0 lee código</a:t>
            </a:r>
            <a:endParaRPr lang="en-US" sz="2100" dirty="0"/>
          </a:p>
          <a:p>
            <a:pPr marL="0" indent="0">
              <a:buNone/>
            </a:pPr>
            <a:r>
              <a:rPr lang="en-US" sz="2100" dirty="0">
                <a:solidFill>
                  <a:srgbClr val="172D40"/>
                </a:solidFill>
                <a:latin typeface="Aptos" pitchFamily="34" charset="0"/>
                <a:ea typeface="Aptos" pitchFamily="34" charset="-122"/>
                <a:cs typeface="Aptos" pitchFamily="34" charset="-120"/>
              </a:rPr>
              <a:t>como un número.</a:t>
            </a:r>
            <a:endParaRPr lang="en-US" sz="2100" dirty="0"/>
          </a:p>
          <a:p>
            <a:pPr marL="0" indent="0">
              <a:buNone/>
            </a:pPr>
            <a:r>
              <a:rPr lang="en-US" sz="2100" dirty="0">
                <a:solidFill>
                  <a:srgbClr val="172D40"/>
                </a:solidFill>
                <a:latin typeface="Aptos" pitchFamily="34" charset="0"/>
                <a:ea typeface="Aptos" pitchFamily="34" charset="-122"/>
                <a:cs typeface="Aptos" pitchFamily="34" charset="-120"/>
              </a:rPr>
              <a:t>ERROR · PC = 0</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Reportes de ejecución</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13</a:t>
            </a:r>
            <a:endParaRPr lang="en-US" sz="1000" dirty="0"/>
          </a:p>
        </p:txBody>
      </p:sp>
      <p:pic>
        <p:nvPicPr>
          <p:cNvPr id="5" name="Image 0" descr="Captura real de VM Studio"/>
          <p:cNvPicPr>
            <a:picLocks noChangeAspect="1"/>
          </p:cNvPicPr>
          <p:nvPr/>
        </p:nvPicPr>
        <p:blipFill>
          <a:blip r:embed="rId3"/>
          <a:stretch>
            <a:fillRect/>
          </a:stretch>
        </p:blipFill>
        <p:spPr>
          <a:xfrm>
            <a:off x="640080" y="1396603"/>
            <a:ext cx="6949440" cy="4750594"/>
          </a:xfrm>
          <a:prstGeom prst="rect">
            <a:avLst/>
          </a:prstGeom>
        </p:spPr>
      </p:pic>
      <p:sp>
        <p:nvSpPr>
          <p:cNvPr id="6" name="Text 3"/>
          <p:cNvSpPr/>
          <p:nvPr/>
        </p:nvSpPr>
        <p:spPr>
          <a:xfrm>
            <a:off x="7909560" y="1691640"/>
            <a:ext cx="3566160" cy="457200"/>
          </a:xfrm>
          <a:prstGeom prst="rect">
            <a:avLst/>
          </a:prstGeom>
          <a:noFill/>
          <a:ln/>
        </p:spPr>
        <p:txBody>
          <a:bodyPr wrap="square" lIns="0" tIns="0" rIns="0" bIns="0" rtlCol="0" anchor="ctr"/>
          <a:lstStyle/>
          <a:p>
            <a:pPr marL="0" indent="0">
              <a:buNone/>
            </a:pPr>
            <a:r>
              <a:rPr lang="en-US" sz="2800" b="1" dirty="0">
                <a:solidFill>
                  <a:srgbClr val="166B70"/>
                </a:solidFill>
                <a:latin typeface="Aptos" pitchFamily="34" charset="0"/>
                <a:ea typeface="Aptos" pitchFamily="34" charset="-122"/>
                <a:cs typeface="Aptos" pitchFamily="34" charset="-120"/>
              </a:rPr>
              <a:t>HTML</a:t>
            </a:r>
            <a:endParaRPr lang="en-US" sz="2800" dirty="0"/>
          </a:p>
        </p:txBody>
      </p:sp>
      <p:sp>
        <p:nvSpPr>
          <p:cNvPr id="7" name="Text 4"/>
          <p:cNvSpPr/>
          <p:nvPr/>
        </p:nvSpPr>
        <p:spPr>
          <a:xfrm>
            <a:off x="7909560" y="2240280"/>
            <a:ext cx="3566160" cy="731520"/>
          </a:xfrm>
          <a:prstGeom prst="rect">
            <a:avLst/>
          </a:prstGeom>
          <a:noFill/>
          <a:ln/>
        </p:spPr>
        <p:txBody>
          <a:bodyPr wrap="square" lIns="0" tIns="0" rIns="0" bIns="0" rtlCol="0" anchor="ctr"/>
          <a:lstStyle/>
          <a:p>
            <a:pPr marL="0" indent="0">
              <a:buNone/>
            </a:pPr>
            <a:r>
              <a:rPr lang="en-US" sz="2200" dirty="0">
                <a:solidFill>
                  <a:srgbClr val="172D40"/>
                </a:solidFill>
                <a:latin typeface="Aptos" pitchFamily="34" charset="0"/>
                <a:ea typeface="Aptos" pitchFamily="34" charset="-122"/>
                <a:cs typeface="Aptos" pitchFamily="34" charset="-120"/>
              </a:rPr>
              <a:t>Consultar e imprimir</a:t>
            </a:r>
            <a:endParaRPr lang="en-US" sz="2200" dirty="0"/>
          </a:p>
          <a:p>
            <a:pPr marL="0" indent="0">
              <a:buNone/>
            </a:pPr>
            <a:r>
              <a:rPr lang="en-US" sz="2200" dirty="0">
                <a:solidFill>
                  <a:srgbClr val="172D40"/>
                </a:solidFill>
                <a:latin typeface="Aptos" pitchFamily="34" charset="0"/>
                <a:ea typeface="Aptos" pitchFamily="34" charset="-122"/>
                <a:cs typeface="Aptos" pitchFamily="34" charset="-120"/>
              </a:rPr>
              <a:t>sin conexión</a:t>
            </a:r>
            <a:endParaRPr lang="en-US" sz="2200" dirty="0"/>
          </a:p>
        </p:txBody>
      </p:sp>
      <p:sp>
        <p:nvSpPr>
          <p:cNvPr id="8" name="Text 5"/>
          <p:cNvSpPr/>
          <p:nvPr/>
        </p:nvSpPr>
        <p:spPr>
          <a:xfrm>
            <a:off x="7909560" y="3291840"/>
            <a:ext cx="3566160" cy="457200"/>
          </a:xfrm>
          <a:prstGeom prst="rect">
            <a:avLst/>
          </a:prstGeom>
          <a:noFill/>
          <a:ln/>
        </p:spPr>
        <p:txBody>
          <a:bodyPr wrap="square" lIns="0" tIns="0" rIns="0" bIns="0" rtlCol="0" anchor="ctr"/>
          <a:lstStyle/>
          <a:p>
            <a:pPr marL="0" indent="0">
              <a:buNone/>
            </a:pPr>
            <a:r>
              <a:rPr lang="en-US" sz="2800" b="1" dirty="0">
                <a:solidFill>
                  <a:srgbClr val="166B70"/>
                </a:solidFill>
                <a:latin typeface="Aptos" pitchFamily="34" charset="0"/>
                <a:ea typeface="Aptos" pitchFamily="34" charset="-122"/>
                <a:cs typeface="Aptos" pitchFamily="34" charset="-120"/>
              </a:rPr>
              <a:t>CSV</a:t>
            </a:r>
            <a:endParaRPr lang="en-US" sz="2800" dirty="0"/>
          </a:p>
        </p:txBody>
      </p:sp>
      <p:sp>
        <p:nvSpPr>
          <p:cNvPr id="9" name="Text 6"/>
          <p:cNvSpPr/>
          <p:nvPr/>
        </p:nvSpPr>
        <p:spPr>
          <a:xfrm>
            <a:off x="7909560" y="3840480"/>
            <a:ext cx="3566160" cy="731520"/>
          </a:xfrm>
          <a:prstGeom prst="rect">
            <a:avLst/>
          </a:prstGeom>
          <a:noFill/>
          <a:ln/>
        </p:spPr>
        <p:txBody>
          <a:bodyPr wrap="square" lIns="0" tIns="0" rIns="0" bIns="0" rtlCol="0" anchor="ctr"/>
          <a:lstStyle/>
          <a:p>
            <a:pPr marL="0" indent="0">
              <a:buNone/>
            </a:pPr>
            <a:r>
              <a:rPr lang="en-US" sz="2200" dirty="0">
                <a:solidFill>
                  <a:srgbClr val="172D40"/>
                </a:solidFill>
                <a:latin typeface="Aptos" pitchFamily="34" charset="0"/>
                <a:ea typeface="Aptos" pitchFamily="34" charset="-122"/>
                <a:cs typeface="Aptos" pitchFamily="34" charset="-120"/>
              </a:rPr>
              <a:t>Revisar registros y</a:t>
            </a:r>
            <a:endParaRPr lang="en-US" sz="2200" dirty="0"/>
          </a:p>
          <a:p>
            <a:pPr marL="0" indent="0">
              <a:buNone/>
            </a:pPr>
            <a:r>
              <a:rPr lang="en-US" sz="2200" dirty="0">
                <a:solidFill>
                  <a:srgbClr val="172D40"/>
                </a:solidFill>
                <a:latin typeface="Aptos" pitchFamily="34" charset="0"/>
                <a:ea typeface="Aptos" pitchFamily="34" charset="-122"/>
                <a:cs typeface="Aptos" pitchFamily="34" charset="-120"/>
              </a:rPr>
              <a:t>pasos en Excel</a:t>
            </a:r>
            <a:endParaRPr lang="en-US" sz="2200" dirty="0"/>
          </a:p>
        </p:txBody>
      </p:sp>
      <p:sp>
        <p:nvSpPr>
          <p:cNvPr id="10" name="Text 7"/>
          <p:cNvSpPr/>
          <p:nvPr/>
        </p:nvSpPr>
        <p:spPr>
          <a:xfrm>
            <a:off x="7909560" y="4864608"/>
            <a:ext cx="3566160" cy="457200"/>
          </a:xfrm>
          <a:prstGeom prst="rect">
            <a:avLst/>
          </a:prstGeom>
          <a:noFill/>
          <a:ln/>
        </p:spPr>
        <p:txBody>
          <a:bodyPr wrap="square" lIns="0" tIns="0" rIns="0" bIns="0" rtlCol="0" anchor="ctr"/>
          <a:lstStyle/>
          <a:p>
            <a:pPr marL="0" indent="0">
              <a:buNone/>
            </a:pPr>
            <a:r>
              <a:rPr lang="en-US" sz="2800" b="1" dirty="0">
                <a:solidFill>
                  <a:srgbClr val="166B70"/>
                </a:solidFill>
                <a:latin typeface="Aptos" pitchFamily="34" charset="0"/>
                <a:ea typeface="Aptos" pitchFamily="34" charset="-122"/>
                <a:cs typeface="Aptos" pitchFamily="34" charset="-120"/>
              </a:rPr>
              <a:t>JSON</a:t>
            </a:r>
            <a:endParaRPr lang="en-US" sz="2800" dirty="0"/>
          </a:p>
        </p:txBody>
      </p:sp>
      <p:sp>
        <p:nvSpPr>
          <p:cNvPr id="11" name="Text 8"/>
          <p:cNvSpPr/>
          <p:nvPr/>
        </p:nvSpPr>
        <p:spPr>
          <a:xfrm>
            <a:off x="7909560" y="5394960"/>
            <a:ext cx="3566160" cy="731520"/>
          </a:xfrm>
          <a:prstGeom prst="rect">
            <a:avLst/>
          </a:prstGeom>
          <a:noFill/>
          <a:ln/>
        </p:spPr>
        <p:txBody>
          <a:bodyPr wrap="square" lIns="0" tIns="0" rIns="0" bIns="0" rtlCol="0" anchor="ctr"/>
          <a:lstStyle/>
          <a:p>
            <a:pPr marL="0" indent="0">
              <a:buNone/>
            </a:pPr>
            <a:r>
              <a:rPr lang="en-US" sz="2200" dirty="0">
                <a:solidFill>
                  <a:srgbClr val="172D40"/>
                </a:solidFill>
                <a:latin typeface="Aptos" pitchFamily="34" charset="0"/>
                <a:ea typeface="Aptos" pitchFamily="34" charset="-122"/>
                <a:cs typeface="Aptos" pitchFamily="34" charset="-120"/>
              </a:rPr>
              <a:t>Conservar la evidencia</a:t>
            </a:r>
            <a:endParaRPr lang="en-US" sz="2200" dirty="0"/>
          </a:p>
          <a:p>
            <a:pPr marL="0" indent="0">
              <a:buNone/>
            </a:pPr>
            <a:r>
              <a:rPr lang="en-US" sz="2200" dirty="0">
                <a:solidFill>
                  <a:srgbClr val="172D40"/>
                </a:solidFill>
                <a:latin typeface="Aptos" pitchFamily="34" charset="0"/>
                <a:ea typeface="Aptos" pitchFamily="34" charset="-122"/>
                <a:cs typeface="Aptos" pitchFamily="34" charset="-120"/>
              </a:rPr>
              <a:t>estructurada completa</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Pruebas y resultados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90879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493776">
                <a:tc>
                  <a:txBody>
                    <a:bodyPr/>
                    <a:lstStyle/>
                    <a:p>
                      <a:pPr marL="0" indent="0">
                        <a:buNone/>
                      </a:pPr>
                      <a:r>
                        <a:rPr lang="en-US" sz="2000" b="1" dirty="0">
                          <a:solidFill>
                            <a:srgbClr val="FFFFFF"/>
                          </a:solidFill>
                          <a:latin typeface="Aptos" pitchFamily="34" charset="0"/>
                          <a:ea typeface="Aptos" pitchFamily="34" charset="-122"/>
                          <a:cs typeface="Aptos" pitchFamily="34" charset="-120"/>
                        </a:rPr>
                        <a:t>Caso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000" b="1" dirty="0">
                          <a:solidFill>
                            <a:srgbClr val="FFFFFF"/>
                          </a:solidFill>
                          <a:latin typeface="Aptos" pitchFamily="34" charset="0"/>
                          <a:ea typeface="Aptos" pitchFamily="34" charset="-122"/>
                          <a:cs typeface="Aptos" pitchFamily="34" charset="-120"/>
                        </a:rPr>
                        <a:t>Esperado y obtenido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tc>
                  <a:txBody>
                    <a:bodyPr/>
                    <a:lstStyle/>
                    <a:p>
                      <a:pPr marL="0" indent="0">
                        <a:buNone/>
                      </a:pPr>
                      <a:r>
                        <a:rPr lang="en-US" sz="2000" b="1" dirty="0">
                          <a:solidFill>
                            <a:srgbClr val="FFFFFF"/>
                          </a:solidFill>
                          <a:latin typeface="Aptos" pitchFamily="34" charset="0"/>
                          <a:ea typeface="Aptos" pitchFamily="34" charset="-122"/>
                          <a:cs typeface="Aptos" pitchFamily="34" charset="-120"/>
                        </a:rPr>
                        <a:t>Estado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10273B"/>
                    </a:solidFill>
                  </a:tcPr>
                </a:tc>
                <a:extLst>
                  <a:ext uri="{0D108BD9-81ED-4DB2-BD59-A6C34878D82A}">
                    <a16:rowId xmlns:a16="http://schemas.microsoft.com/office/drawing/2014/main" val="10000"/>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Suma</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ACC = 30; Mem[20] = 30</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Resta</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ACC = 20; Mem[20] = 20</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2"/>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Almacenamiento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Mem[20] = 30</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Condicional</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Salida = 111</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4"/>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Bucle</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ACC = 6; Mem[53] = 6</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marL="0" indent="0">
                        <a:buNone/>
                      </a:pPr>
                      <a:r>
                        <a:rPr lang="en-US" sz="2000" dirty="0">
                          <a:solidFill>
                            <a:srgbClr val="172D40"/>
                          </a:solidFill>
                          <a:latin typeface="Aptos" pitchFamily="34" charset="0"/>
                          <a:ea typeface="Aptos" pitchFamily="34" charset="-122"/>
                          <a:cs typeface="Aptos" pitchFamily="34" charset="-120"/>
                        </a:rPr>
                        <a:t>Entrada y salida</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Entrada 7 → salida 7</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tc>
                  <a:txBody>
                    <a:bodyPr/>
                    <a:lstStyle/>
                    <a:p>
                      <a:pPr marL="0" indent="0">
                        <a:buNone/>
                      </a:pPr>
                      <a:r>
                        <a:rPr lang="en-US" sz="2000" dirty="0">
                          <a:solidFill>
                            <a:srgbClr val="172D40"/>
                          </a:solidFill>
                          <a:latin typeface="Aptos" pitchFamily="34" charset="0"/>
                          <a:ea typeface="Aptos" pitchFamily="34" charset="-122"/>
                          <a:cs typeface="Aptos" pitchFamily="34" charset="-120"/>
                        </a:rPr>
                        <a:t>Correcto</a:t>
                      </a:r>
                      <a:endParaRPr lang="en-US" sz="2000" dirty="0">
                        <a:latin typeface="Aptos" charset="0"/>
                        <a:ea typeface="Aptos" charset="0"/>
                        <a:cs typeface="Aptos" charset="0"/>
                      </a:endParaRPr>
                    </a:p>
                  </a:txBody>
                  <a:tcPr marL="146304" marR="146304" marT="128016" marB="128016">
                    <a:lnL w="7620" cap="flat" cmpd="sng" algn="ctr">
                      <a:solidFill>
                        <a:srgbClr val="D9E2EA"/>
                      </a:solidFill>
                      <a:prstDash val="solid"/>
                      <a:round/>
                      <a:headEnd type="none" w="med" len="med"/>
                      <a:tailEnd type="none" w="med" len="med"/>
                    </a:lnL>
                    <a:lnR w="7620" cap="flat" cmpd="sng" algn="ctr">
                      <a:solidFill>
                        <a:srgbClr val="D9E2EA"/>
                      </a:solidFill>
                      <a:prstDash val="solid"/>
                      <a:round/>
                      <a:headEnd type="none" w="med" len="med"/>
                      <a:tailEnd type="none" w="med" len="med"/>
                    </a:lnR>
                    <a:lnT w="7620" cap="flat" cmpd="sng" algn="ctr">
                      <a:solidFill>
                        <a:srgbClr val="D9E2EA"/>
                      </a:solidFill>
                      <a:prstDash val="solid"/>
                      <a:round/>
                      <a:headEnd type="none" w="med" len="med"/>
                      <a:tailEnd type="none" w="med" len="med"/>
                    </a:lnT>
                    <a:lnB w="7620" cap="flat" cmpd="sng" algn="ctr">
                      <a:solidFill>
                        <a:srgbClr val="D9E2EA"/>
                      </a:solidFill>
                      <a:prstDash val="solid"/>
                      <a:round/>
                      <a:headEnd type="none" w="med" len="med"/>
                      <a:tailEnd type="none" w="med" len="med"/>
                    </a:lnB>
                    <a:solidFill>
                      <a:srgbClr val="EDF3F6"/>
                    </a:solidFill>
                  </a:tcPr>
                </a:tc>
                <a:extLst>
                  <a:ext uri="{0D108BD9-81ED-4DB2-BD59-A6C34878D82A}">
                    <a16:rowId xmlns:a16="http://schemas.microsoft.com/office/drawing/2014/main" val="10006"/>
                  </a:ext>
                </a:extLst>
              </a:tr>
            </a:tbl>
          </a:graphicData>
        </a:graphic>
      </p:graphicFrame>
      <p:sp>
        <p:nvSpPr>
          <p:cNvPr id="6" name="Text 3"/>
          <p:cNvSpPr/>
          <p:nvPr/>
        </p:nvSpPr>
        <p:spPr>
          <a:xfrm>
            <a:off x="685800" y="5925312"/>
            <a:ext cx="10835640" cy="411480"/>
          </a:xfrm>
          <a:prstGeom prst="rect">
            <a:avLst/>
          </a:prstGeom>
          <a:noFill/>
          <a:ln/>
        </p:spPr>
        <p:txBody>
          <a:bodyPr wrap="square" lIns="0" tIns="0" rIns="0" bIns="0" rtlCol="0" anchor="ctr"/>
          <a:lstStyle/>
          <a:p>
            <a:pPr marL="0" indent="0">
              <a:buNone/>
            </a:pPr>
            <a:r>
              <a:rPr lang="en-US" sz="1900" b="1" dirty="0">
                <a:solidFill>
                  <a:srgbClr val="166B70"/>
                </a:solidFill>
                <a:latin typeface="Aptos" pitchFamily="34" charset="0"/>
                <a:ea typeface="Aptos" pitchFamily="34" charset="-122"/>
                <a:cs typeface="Aptos" pitchFamily="34" charset="-120"/>
              </a:rPr>
              <a:t>39 pruebas automatizadas correctas · 9 errores de carga comprobados · GUI verificada</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172D40"/>
                </a:solidFill>
                <a:latin typeface="Aptos Display" pitchFamily="34" charset="0"/>
                <a:ea typeface="Aptos Display" pitchFamily="34" charset="-122"/>
                <a:cs typeface="Aptos Display" pitchFamily="34" charset="-120"/>
              </a:rPr>
              <a:t>Organización del código</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526779"/>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526779"/>
                </a:solidFill>
                <a:latin typeface="Aptos" pitchFamily="34" charset="0"/>
                <a:ea typeface="Aptos" pitchFamily="34" charset="-122"/>
                <a:cs typeface="Aptos" pitchFamily="34" charset="-120"/>
              </a:rPr>
              <a:t>15</a:t>
            </a:r>
            <a:endParaRPr lang="en-US" sz="1000" dirty="0"/>
          </a:p>
        </p:txBody>
      </p:sp>
      <p:sp>
        <p:nvSpPr>
          <p:cNvPr id="5" name="Text 3"/>
          <p:cNvSpPr/>
          <p:nvPr/>
        </p:nvSpPr>
        <p:spPr>
          <a:xfrm>
            <a:off x="777240" y="1517904"/>
            <a:ext cx="5303520" cy="3154680"/>
          </a:xfrm>
          <a:prstGeom prst="rect">
            <a:avLst/>
          </a:prstGeom>
          <a:noFill/>
          <a:ln/>
        </p:spPr>
        <p:txBody>
          <a:bodyPr wrap="square" lIns="0" tIns="0" rIns="0" bIns="0" rtlCol="0" anchor="ctr"/>
          <a:lstStyle/>
          <a:p>
            <a:pPr marL="0" indent="0">
              <a:buNone/>
            </a:pPr>
            <a:r>
              <a:rPr lang="en-US" sz="2700" dirty="0">
                <a:solidFill>
                  <a:srgbClr val="172D40"/>
                </a:solidFill>
                <a:latin typeface="Consolas" pitchFamily="34" charset="0"/>
                <a:ea typeface="Consolas" pitchFamily="34" charset="-122"/>
                <a:cs typeface="Consolas" pitchFamily="34" charset="-120"/>
              </a:rPr>
              <a:t>src/vm_studio/</a:t>
            </a:r>
            <a:endParaRPr lang="en-US" sz="2700" dirty="0"/>
          </a:p>
          <a:p>
            <a:pPr marL="0" indent="0">
              <a:buNone/>
            </a:pPr>
            <a:r>
              <a:rPr lang="en-US" sz="2700" dirty="0">
                <a:solidFill>
                  <a:srgbClr val="172D40"/>
                </a:solidFill>
                <a:latin typeface="Consolas" pitchFamily="34" charset="0"/>
                <a:ea typeface="Consolas" pitchFamily="34" charset="-122"/>
                <a:cs typeface="Consolas" pitchFamily="34" charset="-120"/>
              </a:rPr>
              <a:t>  motor.py</a:t>
            </a:r>
            <a:endParaRPr lang="en-US" sz="2700" dirty="0"/>
          </a:p>
          <a:p>
            <a:pPr marL="0" indent="0">
              <a:buNone/>
            </a:pPr>
            <a:r>
              <a:rPr lang="en-US" sz="2700" dirty="0">
                <a:solidFill>
                  <a:srgbClr val="172D40"/>
                </a:solidFill>
                <a:latin typeface="Consolas" pitchFamily="34" charset="0"/>
                <a:ea typeface="Consolas" pitchFamily="34" charset="-122"/>
                <a:cs typeface="Consolas" pitchFamily="34" charset="-120"/>
              </a:rPr>
              <a:t>  interfaz.py</a:t>
            </a:r>
            <a:endParaRPr lang="en-US" sz="2700" dirty="0"/>
          </a:p>
          <a:p>
            <a:pPr marL="0" indent="0">
              <a:buNone/>
            </a:pPr>
            <a:r>
              <a:rPr lang="en-US" sz="2700" dirty="0">
                <a:solidFill>
                  <a:srgbClr val="172D40"/>
                </a:solidFill>
                <a:latin typeface="Consolas" pitchFamily="34" charset="0"/>
                <a:ea typeface="Consolas" pitchFamily="34" charset="-122"/>
                <a:cs typeface="Consolas" pitchFamily="34" charset="-120"/>
              </a:rPr>
              <a:t>  consola.py</a:t>
            </a:r>
            <a:endParaRPr lang="en-US" sz="2700" dirty="0"/>
          </a:p>
          <a:p>
            <a:pPr marL="0" indent="0">
              <a:buNone/>
            </a:pPr>
            <a:r>
              <a:rPr lang="en-US" sz="2700" dirty="0">
                <a:solidFill>
                  <a:srgbClr val="172D40"/>
                </a:solidFill>
                <a:latin typeface="Consolas" pitchFamily="34" charset="0"/>
                <a:ea typeface="Consolas" pitchFamily="34" charset="-122"/>
                <a:cs typeface="Consolas" pitchFamily="34" charset="-120"/>
              </a:rPr>
              <a:t>  reportes.py</a:t>
            </a:r>
            <a:endParaRPr lang="en-US" sz="2700" dirty="0"/>
          </a:p>
        </p:txBody>
      </p:sp>
      <p:sp>
        <p:nvSpPr>
          <p:cNvPr id="6" name="Text 4"/>
          <p:cNvSpPr/>
          <p:nvPr/>
        </p:nvSpPr>
        <p:spPr>
          <a:xfrm>
            <a:off x="6400800" y="1691640"/>
            <a:ext cx="5029200" cy="2651760"/>
          </a:xfrm>
          <a:prstGeom prst="rect">
            <a:avLst/>
          </a:prstGeom>
          <a:noFill/>
          <a:ln/>
        </p:spPr>
        <p:txBody>
          <a:bodyPr wrap="square" lIns="0" tIns="0" rIns="0" bIns="0" rtlCol="0" anchor="ctr"/>
          <a:lstStyle/>
          <a:p>
            <a:pPr marL="0" indent="0">
              <a:buNone/>
            </a:pPr>
            <a:r>
              <a:rPr lang="en-US" sz="2400" dirty="0">
                <a:solidFill>
                  <a:srgbClr val="172D40"/>
                </a:solidFill>
                <a:latin typeface="Aptos" pitchFamily="34" charset="0"/>
                <a:ea typeface="Aptos" pitchFamily="34" charset="-122"/>
                <a:cs typeface="Aptos" pitchFamily="34" charset="-120"/>
              </a:rPr>
              <a:t>Motor: instrucciones y estado</a:t>
            </a:r>
            <a:endParaRPr lang="en-US" sz="2400" dirty="0"/>
          </a:p>
          <a:p>
            <a:pPr marL="0" indent="0">
              <a:buNone/>
            </a:pPr>
            <a:r>
              <a:rPr lang="en-US" sz="2400" dirty="0">
                <a:solidFill>
                  <a:srgbClr val="172D40"/>
                </a:solidFill>
                <a:latin typeface="Aptos" pitchFamily="34" charset="0"/>
                <a:ea typeface="Aptos" pitchFamily="34" charset="-122"/>
                <a:cs typeface="Aptos" pitchFamily="34" charset="-120"/>
              </a:rPr>
              <a:t>Interfaz: interacción visual</a:t>
            </a:r>
            <a:endParaRPr lang="en-US" sz="2400" dirty="0"/>
          </a:p>
          <a:p>
            <a:pPr marL="0" indent="0">
              <a:buNone/>
            </a:pPr>
            <a:r>
              <a:rPr lang="en-US" sz="2400" dirty="0">
                <a:solidFill>
                  <a:srgbClr val="172D40"/>
                </a:solidFill>
                <a:latin typeface="Aptos" pitchFamily="34" charset="0"/>
                <a:ea typeface="Aptos" pitchFamily="34" charset="-122"/>
                <a:cs typeface="Aptos" pitchFamily="34" charset="-120"/>
              </a:rPr>
              <a:t>Consola: terminal y archivos</a:t>
            </a:r>
            <a:endParaRPr lang="en-US" sz="2400" dirty="0"/>
          </a:p>
          <a:p>
            <a:pPr marL="0" indent="0">
              <a:buNone/>
            </a:pPr>
            <a:r>
              <a:rPr lang="en-US" sz="2400" dirty="0">
                <a:solidFill>
                  <a:srgbClr val="172D40"/>
                </a:solidFill>
                <a:latin typeface="Aptos" pitchFamily="34" charset="0"/>
                <a:ea typeface="Aptos" pitchFamily="34" charset="-122"/>
                <a:cs typeface="Aptos" pitchFamily="34" charset="-120"/>
              </a:rPr>
              <a:t>Reportes: exportación de evidencia</a:t>
            </a:r>
            <a:endParaRPr lang="en-US" sz="2400" dirty="0"/>
          </a:p>
        </p:txBody>
      </p:sp>
      <p:sp>
        <p:nvSpPr>
          <p:cNvPr id="7" name="Text 5"/>
          <p:cNvSpPr/>
          <p:nvPr/>
        </p:nvSpPr>
        <p:spPr>
          <a:xfrm>
            <a:off x="777240" y="5148072"/>
            <a:ext cx="10698480" cy="594360"/>
          </a:xfrm>
          <a:prstGeom prst="rect">
            <a:avLst/>
          </a:prstGeom>
          <a:noFill/>
          <a:ln/>
        </p:spPr>
        <p:txBody>
          <a:bodyPr wrap="square" lIns="0" tIns="0" rIns="0" bIns="0" rtlCol="0" anchor="ctr"/>
          <a:lstStyle/>
          <a:p>
            <a:pPr marL="0" indent="0">
              <a:buNone/>
            </a:pPr>
            <a:r>
              <a:rPr lang="en-US" sz="2400" dirty="0">
                <a:solidFill>
                  <a:srgbClr val="166B70"/>
                </a:solidFill>
                <a:latin typeface="Consolas" pitchFamily="34" charset="0"/>
                <a:ea typeface="Consolas" pitchFamily="34" charset="-122"/>
                <a:cs typeface="Consolas" pitchFamily="34" charset="-120"/>
              </a:rPr>
              <a:t>examples/     tests/     docs/     output/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73B"/>
        </a:solidFill>
        <a:effectLst/>
      </p:bgPr>
    </p:bg>
    <p:spTree>
      <p:nvGrpSpPr>
        <p:cNvPr id="1" name=""/>
        <p:cNvGrpSpPr/>
        <p:nvPr/>
      </p:nvGrpSpPr>
      <p:grpSpPr>
        <a:xfrm>
          <a:off x="0" y="0"/>
          <a:ext cx="0" cy="0"/>
          <a:chOff x="0" y="0"/>
          <a:chExt cx="0" cy="0"/>
        </a:xfrm>
      </p:grpSpPr>
      <p:sp>
        <p:nvSpPr>
          <p:cNvPr id="2" name="Text 0"/>
          <p:cNvSpPr/>
          <p:nvPr/>
        </p:nvSpPr>
        <p:spPr>
          <a:xfrm>
            <a:off x="594360" y="347472"/>
            <a:ext cx="10972800" cy="658368"/>
          </a:xfrm>
          <a:prstGeom prst="rect">
            <a:avLst/>
          </a:prstGeom>
          <a:noFill/>
          <a:ln/>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Conclusiones y límites</a:t>
            </a:r>
            <a:endParaRPr lang="en-US" sz="3200" dirty="0"/>
          </a:p>
        </p:txBody>
      </p:sp>
      <p:sp>
        <p:nvSpPr>
          <p:cNvPr id="3" name="Text 1"/>
          <p:cNvSpPr/>
          <p:nvPr/>
        </p:nvSpPr>
        <p:spPr>
          <a:xfrm>
            <a:off x="612648" y="6510528"/>
            <a:ext cx="9144000" cy="137160"/>
          </a:xfrm>
          <a:prstGeom prst="rect">
            <a:avLst/>
          </a:prstGeom>
          <a:noFill/>
          <a:ln/>
        </p:spPr>
        <p:txBody>
          <a:bodyPr wrap="square" lIns="0" tIns="0" rIns="0" bIns="0" rtlCol="0" anchor="ctr"/>
          <a:lstStyle/>
          <a:p>
            <a:pPr marL="0" indent="0">
              <a:buNone/>
            </a:pPr>
            <a:r>
              <a:rPr lang="en-US" sz="900" dirty="0">
                <a:solidFill>
                  <a:srgbClr val="B9CDD8"/>
                </a:solidFill>
                <a:latin typeface="Aptos" pitchFamily="34" charset="0"/>
                <a:ea typeface="Aptos" pitchFamily="34" charset="-122"/>
                <a:cs typeface="Aptos" pitchFamily="34" charset="-120"/>
              </a:rPr>
              <a:t>GRUPO 13  ·  ARQUITECTURA DE SISTEMAS OPERATIVOS</a:t>
            </a:r>
            <a:endParaRPr lang="en-US" sz="900" dirty="0"/>
          </a:p>
        </p:txBody>
      </p:sp>
      <p:sp>
        <p:nvSpPr>
          <p:cNvPr id="4" name="Text 2"/>
          <p:cNvSpPr/>
          <p:nvPr/>
        </p:nvSpPr>
        <p:spPr>
          <a:xfrm>
            <a:off x="11091672" y="6473952"/>
            <a:ext cx="457200" cy="182880"/>
          </a:xfrm>
          <a:prstGeom prst="rect">
            <a:avLst/>
          </a:prstGeom>
          <a:noFill/>
          <a:ln/>
        </p:spPr>
        <p:txBody>
          <a:bodyPr wrap="square" lIns="0" tIns="0" rIns="0" bIns="0" rtlCol="0" anchor="ctr"/>
          <a:lstStyle/>
          <a:p>
            <a:pPr marL="0" indent="0" algn="r">
              <a:buNone/>
            </a:pPr>
            <a:r>
              <a:rPr lang="en-US" sz="1000" dirty="0">
                <a:solidFill>
                  <a:srgbClr val="B9CDD8"/>
                </a:solidFill>
                <a:latin typeface="Aptos" pitchFamily="34" charset="0"/>
                <a:ea typeface="Aptos" pitchFamily="34" charset="-122"/>
                <a:cs typeface="Aptos" pitchFamily="34" charset="-120"/>
              </a:rPr>
              <a:t>16</a:t>
            </a:r>
            <a:endParaRPr lang="en-US" sz="1000" dirty="0"/>
          </a:p>
        </p:txBody>
      </p:sp>
      <p:sp>
        <p:nvSpPr>
          <p:cNvPr id="5" name="Text 3"/>
          <p:cNvSpPr/>
          <p:nvPr/>
        </p:nvSpPr>
        <p:spPr>
          <a:xfrm>
            <a:off x="731520" y="1508760"/>
            <a:ext cx="10698480" cy="1417320"/>
          </a:xfrm>
          <a:prstGeom prst="rect">
            <a:avLst/>
          </a:prstGeom>
          <a:noFill/>
          <a:ln/>
        </p:spPr>
        <p:txBody>
          <a:bodyPr wrap="square" lIns="0" tIns="0" rIns="0" bIns="0" rtlCol="0" anchor="ctr"/>
          <a:lstStyle/>
          <a:p>
            <a:pPr marL="0" indent="0">
              <a:buNone/>
            </a:pPr>
            <a:r>
              <a:rPr lang="en-US" sz="3800" b="1" dirty="0">
                <a:solidFill>
                  <a:srgbClr val="FFFFFF"/>
                </a:solidFill>
                <a:latin typeface="Aptos" pitchFamily="34" charset="0"/>
                <a:ea typeface="Aptos" pitchFamily="34" charset="-122"/>
                <a:cs typeface="Aptos" pitchFamily="34" charset="-120"/>
              </a:rPr>
              <a:t>Cada resultado conserva</a:t>
            </a:r>
            <a:endParaRPr lang="en-US" sz="3800" dirty="0"/>
          </a:p>
          <a:p>
            <a:pPr marL="0" indent="0">
              <a:buNone/>
            </a:pPr>
            <a:r>
              <a:rPr lang="en-US" sz="3800" b="1" dirty="0">
                <a:solidFill>
                  <a:srgbClr val="FFFFFF"/>
                </a:solidFill>
                <a:latin typeface="Aptos" pitchFamily="34" charset="0"/>
                <a:ea typeface="Aptos" pitchFamily="34" charset="-122"/>
                <a:cs typeface="Aptos" pitchFamily="34" charset="-120"/>
              </a:rPr>
              <a:t>el recorrido que lo explica.</a:t>
            </a:r>
            <a:endParaRPr lang="en-US" sz="3800" dirty="0"/>
          </a:p>
        </p:txBody>
      </p:sp>
      <p:sp>
        <p:nvSpPr>
          <p:cNvPr id="6" name="Text 4"/>
          <p:cNvSpPr/>
          <p:nvPr/>
        </p:nvSpPr>
        <p:spPr>
          <a:xfrm>
            <a:off x="777240" y="3310128"/>
            <a:ext cx="10607040" cy="1554480"/>
          </a:xfrm>
          <a:prstGeom prst="rect">
            <a:avLst/>
          </a:prstGeom>
          <a:noFill/>
          <a:ln/>
        </p:spPr>
        <p:txBody>
          <a:bodyPr wrap="square" lIns="0" tIns="0" rIns="0" bIns="0" rtlCol="0" anchor="ctr"/>
          <a:lstStyle/>
          <a:p>
            <a:pPr marL="0" indent="0">
              <a:buNone/>
            </a:pPr>
            <a:r>
              <a:rPr lang="en-US" sz="2700" dirty="0">
                <a:solidFill>
                  <a:srgbClr val="A9E5D9"/>
                </a:solidFill>
                <a:latin typeface="Aptos" pitchFamily="34" charset="0"/>
                <a:ea typeface="Aptos" pitchFamily="34" charset="-122"/>
                <a:cs typeface="Aptos" pitchFamily="34" charset="-120"/>
              </a:rPr>
              <a:t>Memoria y registros observables</a:t>
            </a:r>
            <a:endParaRPr lang="en-US" sz="2700" dirty="0"/>
          </a:p>
          <a:p>
            <a:pPr marL="0" indent="0">
              <a:buNone/>
            </a:pPr>
            <a:r>
              <a:rPr lang="en-US" sz="2700" dirty="0">
                <a:solidFill>
                  <a:srgbClr val="A9E5D9"/>
                </a:solidFill>
                <a:latin typeface="Aptos" pitchFamily="34" charset="0"/>
                <a:ea typeface="Aptos" pitchFamily="34" charset="-122"/>
                <a:cs typeface="Aptos" pitchFamily="34" charset="-120"/>
              </a:rPr>
              <a:t>Ejecución por pasos y automática</a:t>
            </a:r>
            <a:endParaRPr lang="en-US" sz="2700" dirty="0"/>
          </a:p>
          <a:p>
            <a:pPr marL="0" indent="0">
              <a:buNone/>
            </a:pPr>
            <a:r>
              <a:rPr lang="en-US" sz="2700" dirty="0">
                <a:solidFill>
                  <a:srgbClr val="A9E5D9"/>
                </a:solidFill>
                <a:latin typeface="Aptos" pitchFamily="34" charset="0"/>
                <a:ea typeface="Aptos" pitchFamily="34" charset="-122"/>
                <a:cs typeface="Aptos" pitchFamily="34" charset="-120"/>
              </a:rPr>
              <a:t>Pruebas reproducibles y reportes</a:t>
            </a:r>
            <a:endParaRPr lang="en-US" sz="2700" dirty="0"/>
          </a:p>
        </p:txBody>
      </p:sp>
      <p:sp>
        <p:nvSpPr>
          <p:cNvPr id="7" name="Text 5"/>
          <p:cNvSpPr/>
          <p:nvPr/>
        </p:nvSpPr>
        <p:spPr>
          <a:xfrm>
            <a:off x="777240" y="5230368"/>
            <a:ext cx="10607040" cy="822960"/>
          </a:xfrm>
          <a:prstGeom prst="rect">
            <a:avLst/>
          </a:prstGeom>
          <a:noFill/>
          <a:ln/>
        </p:spPr>
        <p:txBody>
          <a:bodyPr wrap="square" lIns="0" tIns="0" rIns="0" bIns="0" rtlCol="0" anchor="ctr"/>
          <a:lstStyle/>
          <a:p>
            <a:pPr marL="0" indent="0">
              <a:buNone/>
            </a:pPr>
            <a:r>
              <a:rPr lang="en-US" sz="2100" dirty="0">
                <a:solidFill>
                  <a:srgbClr val="D6E3EC"/>
                </a:solidFill>
                <a:latin typeface="Aptos" pitchFamily="34" charset="0"/>
                <a:ea typeface="Aptos" pitchFamily="34" charset="-122"/>
                <a:cs typeface="Aptos" pitchFamily="34" charset="-120"/>
              </a:rPr>
              <a:t>Alcance didáctico: 100 celdas y 10 instrucciones.</a:t>
            </a:r>
            <a:endParaRPr lang="en-US" sz="2100" dirty="0"/>
          </a:p>
          <a:p>
            <a:pPr marL="0" indent="0">
              <a:buNone/>
            </a:pPr>
            <a:r>
              <a:rPr lang="en-US" sz="2100" dirty="0">
                <a:solidFill>
                  <a:srgbClr val="D6E3EC"/>
                </a:solidFill>
                <a:latin typeface="Aptos" pitchFamily="34" charset="0"/>
                <a:ea typeface="Aptos" pitchFamily="34" charset="-122"/>
                <a:cs typeface="Aptos" pitchFamily="34" charset="-120"/>
              </a:rPr>
              <a:t>No simula concurrencia, interrupciones ni una CPU física.</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4146</Words>
  <Application>Microsoft Office PowerPoint</Application>
  <PresentationFormat>Panorámica</PresentationFormat>
  <Paragraphs>278</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Aptos</vt:lpstr>
      <vt:lpstr>Aptos Display</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Grupo 13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de la máquina virtual simple</dc:title>
  <dc:subject>Arquitectura de Sistemas Operativos · Máquina virtual simple</dc:subject>
  <dc:creator>Grupo 13</dc:creator>
  <cp:lastModifiedBy>jose bucardo</cp:lastModifiedBy>
  <cp:revision>1</cp:revision>
  <dcterms:created xsi:type="dcterms:W3CDTF">2026-10-27T12:02:25Z</dcterms:created>
  <dcterms:modified xsi:type="dcterms:W3CDTF">2026-10-27T12:02:34Z</dcterms:modified>
</cp:coreProperties>
</file>